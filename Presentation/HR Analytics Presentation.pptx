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Lst>
  <p:notesMasterIdLst>
    <p:notesMasterId r:id="rId21"/>
  </p:notesMasterIdLst>
  <p:sldIdLst>
    <p:sldId id="1864" r:id="rId5"/>
    <p:sldId id="1846" r:id="rId6"/>
    <p:sldId id="1845" r:id="rId7"/>
    <p:sldId id="1848" r:id="rId8"/>
    <p:sldId id="1849" r:id="rId9"/>
    <p:sldId id="1866" r:id="rId10"/>
    <p:sldId id="1868" r:id="rId11"/>
    <p:sldId id="1852" r:id="rId12"/>
    <p:sldId id="1865" r:id="rId13"/>
    <p:sldId id="1859" r:id="rId14"/>
    <p:sldId id="1867" r:id="rId15"/>
    <p:sldId id="1870" r:id="rId16"/>
    <p:sldId id="1869" r:id="rId17"/>
    <p:sldId id="1871" r:id="rId18"/>
    <p:sldId id="1858" r:id="rId19"/>
    <p:sldId id="1873" r:id="rId2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80" userDrawn="1">
          <p15:clr>
            <a:srgbClr val="A4A3A4"/>
          </p15:clr>
        </p15:guide>
        <p15:guide id="3" pos="7200" userDrawn="1">
          <p15:clr>
            <a:srgbClr val="A4A3A4"/>
          </p15:clr>
        </p15:guide>
        <p15:guide id="4" pos="4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4387"/>
    <a:srgbClr val="FF2625"/>
    <a:srgbClr val="007788"/>
    <a:srgbClr val="297C2A"/>
    <a:srgbClr val="F69000"/>
    <a:srgbClr val="01C2D1"/>
    <a:srgbClr val="D6D734"/>
    <a:srgbClr val="005C68"/>
    <a:srgbClr val="3B2E58"/>
    <a:srgbClr val="6B292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24" autoAdjust="0"/>
  </p:normalViewPr>
  <p:slideViewPr>
    <p:cSldViewPr snapToGrid="0">
      <p:cViewPr varScale="1">
        <p:scale>
          <a:sx n="82" d="100"/>
          <a:sy n="82" d="100"/>
        </p:scale>
        <p:origin x="720" y="72"/>
      </p:cViewPr>
      <p:guideLst>
        <p:guide orient="horz" pos="2160"/>
        <p:guide pos="480"/>
        <p:guide pos="7200"/>
        <p:guide pos="4368"/>
      </p:guideLst>
    </p:cSldViewPr>
  </p:slideViewPr>
  <p:notesTextViewPr>
    <p:cViewPr>
      <p:scale>
        <a:sx n="1" d="1"/>
        <a:sy n="1" d="1"/>
      </p:scale>
      <p:origin x="0" y="0"/>
    </p:cViewPr>
  </p:notesTextViewPr>
  <p:sorterViewPr>
    <p:cViewPr>
      <p:scale>
        <a:sx n="94" d="100"/>
        <a:sy n="94"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9F622F8-1824-4338-8C3C-5529D3BDEF4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dirty="0"/>
          </a:p>
        </p:txBody>
      </p:sp>
      <p:sp>
        <p:nvSpPr>
          <p:cNvPr id="30723" name="Rectangle 3">
            <a:extLst>
              <a:ext uri="{FF2B5EF4-FFF2-40B4-BE49-F238E27FC236}">
                <a16:creationId xmlns:a16="http://schemas.microsoft.com/office/drawing/2014/main" id="{618DDD53-BB38-4118-BC75-9CE27D49C55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dirty="0"/>
          </a:p>
        </p:txBody>
      </p:sp>
      <p:sp>
        <p:nvSpPr>
          <p:cNvPr id="14340" name="Rectangle 4">
            <a:extLst>
              <a:ext uri="{FF2B5EF4-FFF2-40B4-BE49-F238E27FC236}">
                <a16:creationId xmlns:a16="http://schemas.microsoft.com/office/drawing/2014/main" id="{6C03B6F7-B1AE-4118-ABA2-FFEC9B8F0E9C}"/>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a:extLst>
              <a:ext uri="{FF2B5EF4-FFF2-40B4-BE49-F238E27FC236}">
                <a16:creationId xmlns:a16="http://schemas.microsoft.com/office/drawing/2014/main" id="{646F5356-BDE8-43C1-9587-85323D02B19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89912C35-11A9-4DA7-8476-F1823F658CA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dirty="0"/>
          </a:p>
        </p:txBody>
      </p:sp>
      <p:sp>
        <p:nvSpPr>
          <p:cNvPr id="30727" name="Rectangle 7">
            <a:extLst>
              <a:ext uri="{FF2B5EF4-FFF2-40B4-BE49-F238E27FC236}">
                <a16:creationId xmlns:a16="http://schemas.microsoft.com/office/drawing/2014/main" id="{7180ED79-CEC3-4FB9-B511-8597B20A0C1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DEB7EE2-04A2-4FB2-9625-C9C73AC4D32F}"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A4671F7-4D2C-4B1E-AED7-24676BE8B4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7842D7-C728-4EBD-982B-B8BE79E4DBBE}" type="slidenum">
              <a:rPr lang="en-US" altLang="en-US"/>
              <a:pPr eaLnBrk="1" hangingPunct="1"/>
              <a:t>1</a:t>
            </a:fld>
            <a:endParaRPr lang="en-US" altLang="en-US" dirty="0"/>
          </a:p>
        </p:txBody>
      </p:sp>
      <p:sp>
        <p:nvSpPr>
          <p:cNvPr id="15363" name="Rectangle 2">
            <a:extLst>
              <a:ext uri="{FF2B5EF4-FFF2-40B4-BE49-F238E27FC236}">
                <a16:creationId xmlns:a16="http://schemas.microsoft.com/office/drawing/2014/main" id="{D8E83BD0-7AE4-4323-9047-FC368929C520}"/>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FDECF5EC-C5EC-4723-8F4F-A75A20018F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50814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3</a:t>
            </a:fld>
            <a:endParaRPr lang="en-US" altLang="en-US" dirty="0"/>
          </a:p>
        </p:txBody>
      </p:sp>
    </p:spTree>
    <p:extLst>
      <p:ext uri="{BB962C8B-B14F-4D97-AF65-F5344CB8AC3E}">
        <p14:creationId xmlns:p14="http://schemas.microsoft.com/office/powerpoint/2010/main" val="1632278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4</a:t>
            </a:fld>
            <a:endParaRPr lang="en-US" altLang="en-US" dirty="0"/>
          </a:p>
        </p:txBody>
      </p:sp>
    </p:spTree>
    <p:extLst>
      <p:ext uri="{BB962C8B-B14F-4D97-AF65-F5344CB8AC3E}">
        <p14:creationId xmlns:p14="http://schemas.microsoft.com/office/powerpoint/2010/main" val="1383417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10</a:t>
            </a:fld>
            <a:endParaRPr lang="en-US" altLang="en-US" dirty="0"/>
          </a:p>
        </p:txBody>
      </p:sp>
    </p:spTree>
    <p:extLst>
      <p:ext uri="{BB962C8B-B14F-4D97-AF65-F5344CB8AC3E}">
        <p14:creationId xmlns:p14="http://schemas.microsoft.com/office/powerpoint/2010/main" val="40952882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DB60B1-BEF5-4848-BB02-98EBFE355C13}"/>
              </a:ext>
            </a:extLst>
          </p:cNvPr>
          <p:cNvPicPr>
            <a:picLocks noChangeAspect="1"/>
          </p:cNvPicPr>
          <p:nvPr userDrawn="1"/>
        </p:nvPicPr>
        <p:blipFill>
          <a:blip r:embed="rId2"/>
          <a:srcRect/>
          <a:stretch/>
        </p:blipFill>
        <p:spPr>
          <a:xfrm>
            <a:off x="0" y="1"/>
            <a:ext cx="12191998" cy="6857999"/>
          </a:xfrm>
          <a:prstGeom prst="rect">
            <a:avLst/>
          </a:prstGeom>
        </p:spPr>
      </p:pic>
      <p:sp>
        <p:nvSpPr>
          <p:cNvPr id="4" name="Title 3">
            <a:extLst>
              <a:ext uri="{FF2B5EF4-FFF2-40B4-BE49-F238E27FC236}">
                <a16:creationId xmlns:a16="http://schemas.microsoft.com/office/drawing/2014/main" id="{FE7964CB-E75A-4A03-88D3-6A48EF650A09}"/>
              </a:ext>
            </a:extLst>
          </p:cNvPr>
          <p:cNvSpPr>
            <a:spLocks noGrp="1"/>
          </p:cNvSpPr>
          <p:nvPr>
            <p:ph type="title" hasCustomPrompt="1"/>
          </p:nvPr>
        </p:nvSpPr>
        <p:spPr>
          <a:xfrm>
            <a:off x="5442012" y="2766219"/>
            <a:ext cx="6220101" cy="1325563"/>
          </a:xfrm>
          <a:prstGeom prst="rect">
            <a:avLst/>
          </a:prstGeom>
        </p:spPr>
        <p:txBody>
          <a:bodyPr/>
          <a:lstStyle>
            <a:lvl1pPr>
              <a:defRPr b="1"/>
            </a:lvl1pPr>
          </a:lstStyle>
          <a:p>
            <a:r>
              <a:rPr lang="en-US" dirty="0"/>
              <a:t>Insert title here</a:t>
            </a:r>
          </a:p>
        </p:txBody>
      </p:sp>
    </p:spTree>
    <p:extLst>
      <p:ext uri="{BB962C8B-B14F-4D97-AF65-F5344CB8AC3E}">
        <p14:creationId xmlns:p14="http://schemas.microsoft.com/office/powerpoint/2010/main" val="1440679267"/>
      </p:ext>
    </p:extLst>
  </p:cSld>
  <p:clrMapOvr>
    <a:masterClrMapping/>
  </p:clrMapOvr>
  <p:extLst>
    <p:ext uri="{DCECCB84-F9BA-43D5-87BE-67443E8EF086}">
      <p15:sldGuideLst xmlns:p15="http://schemas.microsoft.com/office/powerpoint/2012/main">
        <p15:guide id="1" pos="28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ight Patter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340929"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5" descr="Red, blue grey white pattern background">
            <a:extLst>
              <a:ext uri="{FF2B5EF4-FFF2-40B4-BE49-F238E27FC236}">
                <a16:creationId xmlns:a16="http://schemas.microsoft.com/office/drawing/2014/main" id="{8FD53BA4-73D2-4CCA-8580-11F4221524F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427166" y="0"/>
            <a:ext cx="4764834" cy="6858000"/>
          </a:xfrm>
          <a:prstGeom prst="rect">
            <a:avLst/>
          </a:prstGeom>
        </p:spPr>
      </p:pic>
    </p:spTree>
    <p:extLst>
      <p:ext uri="{BB962C8B-B14F-4D97-AF65-F5344CB8AC3E}">
        <p14:creationId xmlns:p14="http://schemas.microsoft.com/office/powerpoint/2010/main" val="172072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2"/>
        </a:solidFill>
        <a:effectLst/>
      </p:bgPr>
    </p:bg>
    <p:spTree>
      <p:nvGrpSpPr>
        <p:cNvPr id="1" name=""/>
        <p:cNvGrpSpPr/>
        <p:nvPr/>
      </p:nvGrpSpPr>
      <p:grpSpPr>
        <a:xfrm>
          <a:off x="0" y="0"/>
          <a:ext cx="0" cy="0"/>
          <a:chOff x="0" y="0"/>
          <a:chExt cx="0" cy="0"/>
        </a:xfrm>
      </p:grpSpPr>
      <p:pic>
        <p:nvPicPr>
          <p:cNvPr id="8" name="Picture Placeholder 6" descr="White Striped background">
            <a:extLst>
              <a:ext uri="{FF2B5EF4-FFF2-40B4-BE49-F238E27FC236}">
                <a16:creationId xmlns:a16="http://schemas.microsoft.com/office/drawing/2014/main" id="{3917D528-010E-4303-97BF-F7F67BC6612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324088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2"/>
                </a:solidFill>
              </a:defRPr>
            </a:lvl1pPr>
          </a:lstStyle>
          <a:p>
            <a:r>
              <a:rPr lang="en-US" dirty="0"/>
              <a:t>Insert title here</a:t>
            </a:r>
          </a:p>
        </p:txBody>
      </p:sp>
      <p:sp>
        <p:nvSpPr>
          <p:cNvPr id="10" name="Text Placeholder 15">
            <a:extLst>
              <a:ext uri="{FF2B5EF4-FFF2-40B4-BE49-F238E27FC236}">
                <a16:creationId xmlns:a16="http://schemas.microsoft.com/office/drawing/2014/main" id="{780F473D-F2DF-4163-AB6E-F7327F60EC4A}"/>
              </a:ext>
            </a:extLst>
          </p:cNvPr>
          <p:cNvSpPr>
            <a:spLocks noGrp="1"/>
          </p:cNvSpPr>
          <p:nvPr>
            <p:ph type="body" sz="quarter" idx="11" hasCustomPrompt="1"/>
          </p:nvPr>
        </p:nvSpPr>
        <p:spPr>
          <a:xfrm>
            <a:off x="762000" y="1432562"/>
            <a:ext cx="10667999" cy="1158237"/>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11" name="Table Placeholder 10">
            <a:extLst>
              <a:ext uri="{FF2B5EF4-FFF2-40B4-BE49-F238E27FC236}">
                <a16:creationId xmlns:a16="http://schemas.microsoft.com/office/drawing/2014/main" id="{7DC18506-6205-438F-AA5C-D337F9975FC3}"/>
              </a:ext>
            </a:extLst>
          </p:cNvPr>
          <p:cNvSpPr>
            <a:spLocks noGrp="1"/>
          </p:cNvSpPr>
          <p:nvPr>
            <p:ph type="tbl" sz="quarter" idx="12" hasCustomPrompt="1"/>
          </p:nvPr>
        </p:nvSpPr>
        <p:spPr>
          <a:xfrm>
            <a:off x="757381" y="2591662"/>
            <a:ext cx="10667999" cy="2833776"/>
          </a:xfrm>
          <a:prstGeom prst="rect">
            <a:avLst/>
          </a:prstGeom>
        </p:spPr>
        <p:txBody>
          <a:bodyPr/>
          <a:lstStyle>
            <a:lvl1pPr marL="0" indent="0">
              <a:buNone/>
              <a:defRPr sz="1800" b="0"/>
            </a:lvl1pPr>
          </a:lstStyle>
          <a:p>
            <a:r>
              <a:rPr lang="en-US" dirty="0"/>
              <a:t>Insert content here</a:t>
            </a:r>
          </a:p>
        </p:txBody>
      </p:sp>
      <p:pic>
        <p:nvPicPr>
          <p:cNvPr id="7" name="Picture Placeholder 5" descr="Red, blue grey white pattern background">
            <a:extLst>
              <a:ext uri="{FF2B5EF4-FFF2-40B4-BE49-F238E27FC236}">
                <a16:creationId xmlns:a16="http://schemas.microsoft.com/office/drawing/2014/main" id="{CD2D4C14-919B-45F8-8FB9-55AAC8A8FCF8}"/>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0252"/>
            <a:ext cx="12192000" cy="867748"/>
          </a:xfrm>
          <a:prstGeom prst="rect">
            <a:avLst/>
          </a:prstGeom>
        </p:spPr>
      </p:pic>
    </p:spTree>
    <p:extLst>
      <p:ext uri="{BB962C8B-B14F-4D97-AF65-F5344CB8AC3E}">
        <p14:creationId xmlns:p14="http://schemas.microsoft.com/office/powerpoint/2010/main" val="1422917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ft Pattern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1"/>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6" descr="Red, blue grey white pattern background">
            <a:extLst>
              <a:ext uri="{FF2B5EF4-FFF2-40B4-BE49-F238E27FC236}">
                <a16:creationId xmlns:a16="http://schemas.microsoft.com/office/drawing/2014/main" id="{3A82D859-AED3-485F-A04E-40320B1043AA}"/>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4767943" cy="6858000"/>
          </a:xfrm>
          <a:prstGeom prst="rect">
            <a:avLst/>
          </a:prstGeom>
        </p:spPr>
      </p:pic>
    </p:spTree>
    <p:extLst>
      <p:ext uri="{BB962C8B-B14F-4D97-AF65-F5344CB8AC3E}">
        <p14:creationId xmlns:p14="http://schemas.microsoft.com/office/powerpoint/2010/main" val="218987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3">
                    <a:lumMod val="75000"/>
                  </a:schemeClr>
                </a:solidFill>
              </a:defRPr>
            </a:lvl1pPr>
          </a:lstStyle>
          <a:p>
            <a:r>
              <a:rPr lang="en-US" dirty="0"/>
              <a:t>Insert title here</a:t>
            </a:r>
          </a:p>
        </p:txBody>
      </p:sp>
      <p:sp>
        <p:nvSpPr>
          <p:cNvPr id="7" name="Text Placeholder 15">
            <a:extLst>
              <a:ext uri="{FF2B5EF4-FFF2-40B4-BE49-F238E27FC236}">
                <a16:creationId xmlns:a16="http://schemas.microsoft.com/office/drawing/2014/main" id="{DF03C311-DDF4-44A3-9D51-D5FDC4A8E7B5}"/>
              </a:ext>
            </a:extLst>
          </p:cNvPr>
          <p:cNvSpPr>
            <a:spLocks noGrp="1"/>
          </p:cNvSpPr>
          <p:nvPr>
            <p:ph type="body" sz="quarter" idx="11" hasCustomPrompt="1"/>
          </p:nvPr>
        </p:nvSpPr>
        <p:spPr>
          <a:xfrm>
            <a:off x="762000" y="1432562"/>
            <a:ext cx="10667999" cy="927425"/>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8" name="SmartArt Placeholder 7">
            <a:extLst>
              <a:ext uri="{FF2B5EF4-FFF2-40B4-BE49-F238E27FC236}">
                <a16:creationId xmlns:a16="http://schemas.microsoft.com/office/drawing/2014/main" id="{9FD563C5-3DFB-47DD-8A9E-30D8084590F6}"/>
              </a:ext>
            </a:extLst>
          </p:cNvPr>
          <p:cNvSpPr>
            <a:spLocks noGrp="1"/>
          </p:cNvSpPr>
          <p:nvPr>
            <p:ph type="dgm" sz="quarter" idx="14" hasCustomPrompt="1"/>
          </p:nvPr>
        </p:nvSpPr>
        <p:spPr>
          <a:xfrm>
            <a:off x="762001" y="2369129"/>
            <a:ext cx="10667998" cy="3343657"/>
          </a:xfrm>
          <a:prstGeom prst="rect">
            <a:avLst/>
          </a:prstGeom>
        </p:spPr>
        <p:txBody>
          <a:bodyPr/>
          <a:lstStyle>
            <a:lvl1pPr marL="0" indent="0">
              <a:buNone/>
              <a:defRPr sz="1800" b="0"/>
            </a:lvl1pPr>
          </a:lstStyle>
          <a:p>
            <a:r>
              <a:rPr lang="en-US" dirty="0"/>
              <a:t>Insert Content here</a:t>
            </a:r>
          </a:p>
        </p:txBody>
      </p:sp>
      <p:pic>
        <p:nvPicPr>
          <p:cNvPr id="9" name="Picture Placeholder 8" descr="Red, blue grey white pattern background">
            <a:extLst>
              <a:ext uri="{FF2B5EF4-FFF2-40B4-BE49-F238E27FC236}">
                <a16:creationId xmlns:a16="http://schemas.microsoft.com/office/drawing/2014/main" id="{EFDBB6A3-9760-4B41-9E31-6D5DD396E16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9582"/>
            <a:ext cx="12192000" cy="858417"/>
          </a:xfrm>
          <a:prstGeom prst="rect">
            <a:avLst/>
          </a:prstGeom>
        </p:spPr>
      </p:pic>
    </p:spTree>
    <p:extLst>
      <p:ext uri="{BB962C8B-B14F-4D97-AF65-F5344CB8AC3E}">
        <p14:creationId xmlns:p14="http://schemas.microsoft.com/office/powerpoint/2010/main" val="4294626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Photo Conten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3F45076F-4240-4B40-8CE4-637DD751A68B}"/>
              </a:ext>
            </a:extLst>
          </p:cNvPr>
          <p:cNvSpPr>
            <a:spLocks noGrp="1"/>
          </p:cNvSpPr>
          <p:nvPr>
            <p:ph type="title" hasCustomPrompt="1"/>
          </p:nvPr>
        </p:nvSpPr>
        <p:spPr>
          <a:xfrm>
            <a:off x="762000" y="715963"/>
            <a:ext cx="5334000" cy="1189038"/>
          </a:xfrm>
          <a:prstGeom prst="rect">
            <a:avLst/>
          </a:prstGeom>
        </p:spPr>
        <p:txBody>
          <a:bodyPr anchor="t">
            <a:normAutofit/>
          </a:bodyPr>
          <a:lstStyle>
            <a:lvl1pPr>
              <a:spcBef>
                <a:spcPts val="1000"/>
              </a:spcBef>
              <a:defRPr sz="4000" b="1">
                <a:solidFill>
                  <a:schemeClr val="accent2"/>
                </a:solidFill>
              </a:defRPr>
            </a:lvl1pPr>
          </a:lstStyle>
          <a:p>
            <a:r>
              <a:rPr lang="en-US" dirty="0"/>
              <a:t>Insert title here</a:t>
            </a:r>
          </a:p>
        </p:txBody>
      </p:sp>
      <p:sp>
        <p:nvSpPr>
          <p:cNvPr id="16" name="Text Placeholder 15">
            <a:extLst>
              <a:ext uri="{FF2B5EF4-FFF2-40B4-BE49-F238E27FC236}">
                <a16:creationId xmlns:a16="http://schemas.microsoft.com/office/drawing/2014/main" id="{8498B63D-F60C-4A9D-8D3E-0C7CD748FEDE}"/>
              </a:ext>
            </a:extLst>
          </p:cNvPr>
          <p:cNvSpPr>
            <a:spLocks noGrp="1"/>
          </p:cNvSpPr>
          <p:nvPr>
            <p:ph type="body" sz="quarter" idx="11" hasCustomPrompt="1"/>
          </p:nvPr>
        </p:nvSpPr>
        <p:spPr>
          <a:xfrm>
            <a:off x="762000" y="1905000"/>
            <a:ext cx="5334000" cy="3276600"/>
          </a:xfrm>
          <a:prstGeom prst="rect">
            <a:avLst/>
          </a:prstGeom>
        </p:spPr>
        <p:txBody>
          <a:bodyPr/>
          <a:lstStyle>
            <a:lvl1pPr marL="0" indent="0">
              <a:lnSpc>
                <a:spcPct val="100000"/>
              </a:lnSpc>
              <a:buNone/>
              <a:defRPr sz="1800" b="1"/>
            </a:lvl1pPr>
            <a:lvl2pPr marL="228600">
              <a:lnSpc>
                <a:spcPct val="100000"/>
              </a:lnSpc>
              <a:spcBef>
                <a:spcPts val="1000"/>
              </a:spcBef>
              <a:defRPr sz="1800"/>
            </a:lvl2pPr>
          </a:lstStyle>
          <a:p>
            <a:pPr lvl="0"/>
            <a:r>
              <a:rPr lang="en-US" dirty="0"/>
              <a:t>Insert subtitle here</a:t>
            </a:r>
          </a:p>
          <a:p>
            <a:pPr lvl="1"/>
            <a:r>
              <a:rPr lang="en-US" dirty="0"/>
              <a:t>Insert content here</a:t>
            </a:r>
          </a:p>
        </p:txBody>
      </p:sp>
      <p:sp>
        <p:nvSpPr>
          <p:cNvPr id="9" name="Picture Placeholder 13">
            <a:extLst>
              <a:ext uri="{FF2B5EF4-FFF2-40B4-BE49-F238E27FC236}">
                <a16:creationId xmlns:a16="http://schemas.microsoft.com/office/drawing/2014/main" id="{827A95C0-AE8D-46E1-9EF9-64504CBEF99E}"/>
              </a:ext>
            </a:extLst>
          </p:cNvPr>
          <p:cNvSpPr>
            <a:spLocks noGrp="1"/>
          </p:cNvSpPr>
          <p:nvPr>
            <p:ph type="pic" sz="quarter" idx="14"/>
          </p:nvPr>
        </p:nvSpPr>
        <p:spPr>
          <a:xfrm>
            <a:off x="6858000" y="715963"/>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sp>
        <p:nvSpPr>
          <p:cNvPr id="8" name="Picture Placeholder 13">
            <a:extLst>
              <a:ext uri="{FF2B5EF4-FFF2-40B4-BE49-F238E27FC236}">
                <a16:creationId xmlns:a16="http://schemas.microsoft.com/office/drawing/2014/main" id="{89E410BA-B0FE-4F0E-8BE5-D33CC016635B}"/>
              </a:ext>
            </a:extLst>
          </p:cNvPr>
          <p:cNvSpPr>
            <a:spLocks noGrp="1"/>
          </p:cNvSpPr>
          <p:nvPr>
            <p:ph type="pic" sz="quarter" idx="13"/>
          </p:nvPr>
        </p:nvSpPr>
        <p:spPr>
          <a:xfrm>
            <a:off x="6858000" y="3305541"/>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pic>
        <p:nvPicPr>
          <p:cNvPr id="11" name="Picture Placeholder 5" descr="Red, blue grey white pattern background">
            <a:extLst>
              <a:ext uri="{FF2B5EF4-FFF2-40B4-BE49-F238E27FC236}">
                <a16:creationId xmlns:a16="http://schemas.microsoft.com/office/drawing/2014/main" id="{1014381E-E235-4624-9267-69EEEE9826F2}"/>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80922"/>
            <a:ext cx="12192000" cy="877078"/>
          </a:xfrm>
          <a:prstGeom prst="rect">
            <a:avLst/>
          </a:prstGeom>
        </p:spPr>
      </p:pic>
    </p:spTree>
    <p:extLst>
      <p:ext uri="{BB962C8B-B14F-4D97-AF65-F5344CB8AC3E}">
        <p14:creationId xmlns:p14="http://schemas.microsoft.com/office/powerpoint/2010/main" val="1586680172"/>
      </p:ext>
    </p:extLst>
  </p:cSld>
  <p:clrMapOvr>
    <a:masterClrMapping/>
  </p:clrMapOvr>
  <p:extLst>
    <p:ext uri="{DCECCB84-F9BA-43D5-87BE-67443E8EF086}">
      <p15:sldGuideLst xmlns:p15="http://schemas.microsoft.com/office/powerpoint/2012/main">
        <p15:guide id="1" orient="horz" pos="3672"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ght Pattern Content Gra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3">
                    <a:lumMod val="75000"/>
                  </a:schemeClr>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477000"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6" descr="Red, blue grey white pattern background">
            <a:extLst>
              <a:ext uri="{FF2B5EF4-FFF2-40B4-BE49-F238E27FC236}">
                <a16:creationId xmlns:a16="http://schemas.microsoft.com/office/drawing/2014/main" id="{6696C96D-182E-490E-A117-B60FF1853675}"/>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427166" y="0"/>
            <a:ext cx="4764834" cy="6858000"/>
          </a:xfrm>
          <a:prstGeom prst="rect">
            <a:avLst/>
          </a:prstGeom>
        </p:spPr>
      </p:pic>
    </p:spTree>
    <p:extLst>
      <p:ext uri="{BB962C8B-B14F-4D97-AF65-F5344CB8AC3E}">
        <p14:creationId xmlns:p14="http://schemas.microsoft.com/office/powerpoint/2010/main" val="395142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accent1"/>
        </a:solidFill>
        <a:effectLst/>
      </p:bgPr>
    </p:bg>
    <p:spTree>
      <p:nvGrpSpPr>
        <p:cNvPr id="1" name=""/>
        <p:cNvGrpSpPr/>
        <p:nvPr/>
      </p:nvGrpSpPr>
      <p:grpSpPr>
        <a:xfrm>
          <a:off x="0" y="0"/>
          <a:ext cx="0" cy="0"/>
          <a:chOff x="0" y="0"/>
          <a:chExt cx="0" cy="0"/>
        </a:xfrm>
      </p:grpSpPr>
      <p:pic>
        <p:nvPicPr>
          <p:cNvPr id="8" name="Picture Placeholder 6" descr="Picture placeholder ">
            <a:extLst>
              <a:ext uri="{FF2B5EF4-FFF2-40B4-BE49-F238E27FC236}">
                <a16:creationId xmlns:a16="http://schemas.microsoft.com/office/drawing/2014/main" id="{21F9B252-B7D4-4DA8-92E8-8A98BFEF41B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410071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7724906-4405-47F4-B533-7291B003B0A2}"/>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accent1"/>
                </a:solidFill>
                <a:effectLst/>
                <a:latin typeface="+mj-lt"/>
                <a:ea typeface="+mn-ea"/>
                <a:cs typeface="Segoe UI" pitchFamily="34" charset="0"/>
              </a:defRPr>
            </a:lvl1pPr>
          </a:lstStyle>
          <a:p>
            <a:r>
              <a:rPr lang="en-US" dirty="0"/>
              <a:t>Insert title here</a:t>
            </a:r>
          </a:p>
        </p:txBody>
      </p:sp>
      <p:sp>
        <p:nvSpPr>
          <p:cNvPr id="14" name="Text Placeholder 4">
            <a:extLst>
              <a:ext uri="{FF2B5EF4-FFF2-40B4-BE49-F238E27FC236}">
                <a16:creationId xmlns:a16="http://schemas.microsoft.com/office/drawing/2014/main" id="{1EEF53A4-35A6-4E43-B220-67DA381C5910}"/>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bg1"/>
                </a:solidFill>
                <a:latin typeface="+mn-lt"/>
                <a:ea typeface="+mn-ea"/>
                <a:cs typeface="+mn-cs"/>
              </a:defRPr>
            </a:lvl1pPr>
          </a:lstStyle>
          <a:p>
            <a:pPr lvl="0"/>
            <a:r>
              <a:rPr lang="en-US" dirty="0"/>
              <a:t>Insert content here</a:t>
            </a:r>
          </a:p>
        </p:txBody>
      </p:sp>
      <p:pic>
        <p:nvPicPr>
          <p:cNvPr id="6" name="Picture Placeholder 5" descr="Red, blue grey white pattern background">
            <a:extLst>
              <a:ext uri="{FF2B5EF4-FFF2-40B4-BE49-F238E27FC236}">
                <a16:creationId xmlns:a16="http://schemas.microsoft.com/office/drawing/2014/main" id="{906BF34F-6945-4E11-BAEC-F66F7254C4C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9582"/>
            <a:ext cx="12192000" cy="858417"/>
          </a:xfrm>
          <a:prstGeom prst="rect">
            <a:avLst/>
          </a:prstGeom>
        </p:spPr>
      </p:pic>
    </p:spTree>
    <p:extLst>
      <p:ext uri="{BB962C8B-B14F-4D97-AF65-F5344CB8AC3E}">
        <p14:creationId xmlns:p14="http://schemas.microsoft.com/office/powerpoint/2010/main" val="495523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ft Pattern Content Blue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6" descr="Red, blue grey white pattern background">
            <a:extLst>
              <a:ext uri="{FF2B5EF4-FFF2-40B4-BE49-F238E27FC236}">
                <a16:creationId xmlns:a16="http://schemas.microsoft.com/office/drawing/2014/main" id="{BC85C715-EF0D-4E33-AC89-C35DD2596E5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4767943" cy="6858000"/>
          </a:xfrm>
          <a:prstGeom prst="rect">
            <a:avLst/>
          </a:prstGeom>
        </p:spPr>
      </p:pic>
    </p:spTree>
    <p:extLst>
      <p:ext uri="{BB962C8B-B14F-4D97-AF65-F5344CB8AC3E}">
        <p14:creationId xmlns:p14="http://schemas.microsoft.com/office/powerpoint/2010/main" val="84037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9690444"/>
      </p:ext>
    </p:extLst>
  </p:cSld>
  <p:clrMap bg1="dk1" tx1="lt1" bg2="dk2" tx2="lt2" accent1="accent1" accent2="accent2" accent3="accent3" accent4="accent4" accent5="accent5" accent6="accent6" hlink="hlink" folHlink="folHlink"/>
  <p:sldLayoutIdLst>
    <p:sldLayoutId id="2147483689" r:id="rId1"/>
    <p:sldLayoutId id="2147483699" r:id="rId2"/>
    <p:sldLayoutId id="2147483700" r:id="rId3"/>
    <p:sldLayoutId id="2147483691" r:id="rId4"/>
    <p:sldLayoutId id="2147483701" r:id="rId5"/>
    <p:sldLayoutId id="2147483706" r:id="rId6"/>
    <p:sldLayoutId id="2147483702" r:id="rId7"/>
    <p:sldLayoutId id="2147483704" r:id="rId8"/>
    <p:sldLayoutId id="2147483703" r:id="rId9"/>
    <p:sldLayoutId id="2147483690" r:id="rId10"/>
    <p:sldLayoutId id="2147483708"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D2DB031-9003-4F74-A88F-FE2A2ABABC72}"/>
              </a:ext>
            </a:extLst>
          </p:cNvPr>
          <p:cNvSpPr>
            <a:spLocks noGrp="1" noChangeArrowheads="1"/>
          </p:cNvSpPr>
          <p:nvPr>
            <p:ph type="title"/>
          </p:nvPr>
        </p:nvSpPr>
        <p:spPr>
          <a:xfrm>
            <a:off x="5108637" y="2658467"/>
            <a:ext cx="6220101" cy="1541066"/>
          </a:xfrm>
        </p:spPr>
        <p:txBody>
          <a:bodyPr anchor="ctr">
            <a:noAutofit/>
          </a:bodyPr>
          <a:lstStyle/>
          <a:p>
            <a:r>
              <a:rPr lang="en-IN" dirty="0">
                <a:solidFill>
                  <a:schemeClr val="accent2"/>
                </a:solidFill>
              </a:rPr>
              <a:t>HR </a:t>
            </a:r>
            <a:r>
              <a:rPr lang="en-IN" dirty="0">
                <a:solidFill>
                  <a:schemeClr val="accent1"/>
                </a:solidFill>
              </a:rPr>
              <a:t>Analytics</a:t>
            </a:r>
            <a:r>
              <a:rPr lang="en-IN" dirty="0">
                <a:solidFill>
                  <a:schemeClr val="accent2"/>
                </a:solidFill>
              </a:rPr>
              <a:t> </a:t>
            </a:r>
            <a:r>
              <a:rPr lang="en-IN" dirty="0"/>
              <a:t>: </a:t>
            </a:r>
            <a:r>
              <a:rPr lang="en-IN" dirty="0">
                <a:solidFill>
                  <a:schemeClr val="bg1">
                    <a:lumMod val="50000"/>
                    <a:lumOff val="50000"/>
                  </a:schemeClr>
                </a:solidFill>
              </a:rPr>
              <a:t>Workforce Insights</a:t>
            </a:r>
            <a:endParaRPr lang="en-US" altLang="en-US" dirty="0">
              <a:solidFill>
                <a:schemeClr val="bg1">
                  <a:lumMod val="50000"/>
                  <a:lumOff val="50000"/>
                </a:schemeClr>
              </a:solidFill>
            </a:endParaRPr>
          </a:p>
        </p:txBody>
      </p:sp>
    </p:spTree>
    <p:extLst>
      <p:ext uri="{BB962C8B-B14F-4D97-AF65-F5344CB8AC3E}">
        <p14:creationId xmlns:p14="http://schemas.microsoft.com/office/powerpoint/2010/main" val="1543265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BA0B6F-5258-479C-87B7-C806E6757035}"/>
              </a:ext>
            </a:extLst>
          </p:cNvPr>
          <p:cNvSpPr>
            <a:spLocks noGrp="1"/>
          </p:cNvSpPr>
          <p:nvPr>
            <p:ph type="title"/>
          </p:nvPr>
        </p:nvSpPr>
        <p:spPr>
          <a:xfrm>
            <a:off x="762000" y="590550"/>
            <a:ext cx="6477000" cy="666750"/>
          </a:xfrm>
        </p:spPr>
        <p:txBody>
          <a:bodyPr/>
          <a:lstStyle/>
          <a:p>
            <a:r>
              <a:rPr lang="en-US" dirty="0"/>
              <a:t>Introduction</a:t>
            </a:r>
          </a:p>
        </p:txBody>
      </p:sp>
      <p:sp>
        <p:nvSpPr>
          <p:cNvPr id="2" name="Text Placeholder 1">
            <a:extLst>
              <a:ext uri="{FF2B5EF4-FFF2-40B4-BE49-F238E27FC236}">
                <a16:creationId xmlns:a16="http://schemas.microsoft.com/office/drawing/2014/main" id="{3F36812B-2065-4A2B-B59B-8957022687BC}"/>
              </a:ext>
            </a:extLst>
          </p:cNvPr>
          <p:cNvSpPr>
            <a:spLocks noGrp="1"/>
          </p:cNvSpPr>
          <p:nvPr>
            <p:ph type="body" sz="quarter" idx="11"/>
          </p:nvPr>
        </p:nvSpPr>
        <p:spPr>
          <a:xfrm>
            <a:off x="762001" y="1343026"/>
            <a:ext cx="6153150" cy="5314950"/>
          </a:xfrm>
        </p:spPr>
        <p:txBody>
          <a:bodyPr/>
          <a:lstStyle/>
          <a:p>
            <a:pPr algn="just"/>
            <a:r>
              <a:rPr lang="en-US" altLang="en-US" b="0" dirty="0">
                <a:cs typeface="Arial" panose="020B0604020202020204" pitchFamily="34" charset="0"/>
              </a:rPr>
              <a:t>This project, </a:t>
            </a:r>
            <a:r>
              <a:rPr lang="en-US" dirty="0"/>
              <a:t>HR Analytics: Employee Lifecycle Insights Dashboard</a:t>
            </a:r>
            <a:r>
              <a:rPr lang="en-US" altLang="en-US" b="0" dirty="0">
                <a:cs typeface="Arial" panose="020B0604020202020204" pitchFamily="34" charset="0"/>
              </a:rPr>
              <a:t>, focuses on analyzing an organizational HR dataset containing 22,214 employee records across multiple departments and locations. The dataset includes information such as employee age, gender, race, department, job title, hire date, termination date, work location (Headquarters or Remote), and geographical details.</a:t>
            </a:r>
          </a:p>
          <a:p>
            <a:pPr algn="just"/>
            <a:endParaRPr lang="en-US" altLang="en-US" b="0" dirty="0">
              <a:cs typeface="Arial" panose="020B0604020202020204" pitchFamily="34" charset="0"/>
            </a:endParaRPr>
          </a:p>
          <a:p>
            <a:pPr algn="just"/>
            <a:r>
              <a:rPr lang="en-US" altLang="en-US" dirty="0">
                <a:cs typeface="Arial" panose="020B0604020202020204" pitchFamily="34" charset="0"/>
              </a:rPr>
              <a:t>This analysis enables HR teams and management to:</a:t>
            </a:r>
          </a:p>
          <a:p>
            <a:pPr marL="285750" indent="-285750" algn="just">
              <a:buFont typeface="Wingdings" panose="05000000000000000000" pitchFamily="2" charset="2"/>
              <a:buChar char="q"/>
            </a:pPr>
            <a:r>
              <a:rPr lang="en-US" altLang="en-US" b="0" dirty="0">
                <a:cs typeface="Arial" panose="020B0604020202020204" pitchFamily="34" charset="0"/>
              </a:rPr>
              <a:t>Monitor workforce growth and hiring trends</a:t>
            </a:r>
          </a:p>
          <a:p>
            <a:pPr marL="285750" indent="-285750" algn="just">
              <a:buFont typeface="Wingdings" panose="05000000000000000000" pitchFamily="2" charset="2"/>
              <a:buChar char="q"/>
            </a:pPr>
            <a:r>
              <a:rPr lang="en-US" altLang="en-US" b="0" dirty="0">
                <a:cs typeface="Arial" panose="020B0604020202020204" pitchFamily="34" charset="0"/>
              </a:rPr>
              <a:t>Understand employee demographics and diversity</a:t>
            </a:r>
          </a:p>
          <a:p>
            <a:pPr marL="285750" indent="-285750" algn="just">
              <a:buFont typeface="Wingdings" panose="05000000000000000000" pitchFamily="2" charset="2"/>
              <a:buChar char="q"/>
            </a:pPr>
            <a:r>
              <a:rPr lang="en-US" altLang="en-US" b="0" dirty="0">
                <a:cs typeface="Arial" panose="020B0604020202020204" pitchFamily="34" charset="0"/>
              </a:rPr>
              <a:t>Evaluate remote vs on-site workforce distribution</a:t>
            </a:r>
          </a:p>
          <a:p>
            <a:pPr marL="285750" indent="-285750" algn="just">
              <a:buFont typeface="Wingdings" panose="05000000000000000000" pitchFamily="2" charset="2"/>
              <a:buChar char="q"/>
            </a:pPr>
            <a:r>
              <a:rPr lang="en-US" altLang="en-US" b="0" dirty="0">
                <a:cs typeface="Arial" panose="020B0604020202020204" pitchFamily="34" charset="0"/>
              </a:rPr>
              <a:t>Identify areas for improvement in talent management and retention</a:t>
            </a:r>
          </a:p>
        </p:txBody>
      </p:sp>
    </p:spTree>
    <p:extLst>
      <p:ext uri="{BB962C8B-B14F-4D97-AF65-F5344CB8AC3E}">
        <p14:creationId xmlns:p14="http://schemas.microsoft.com/office/powerpoint/2010/main" val="46166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9E38B3-4686-8247-9625-49018D29F408}"/>
              </a:ext>
            </a:extLst>
          </p:cNvPr>
          <p:cNvSpPr>
            <a:spLocks noGrp="1"/>
          </p:cNvSpPr>
          <p:nvPr>
            <p:ph type="title"/>
          </p:nvPr>
        </p:nvSpPr>
        <p:spPr>
          <a:xfrm>
            <a:off x="1525301" y="1051322"/>
            <a:ext cx="9141397" cy="615553"/>
          </a:xfrm>
        </p:spPr>
        <p:txBody>
          <a:bodyPr/>
          <a:lstStyle/>
          <a:p>
            <a:r>
              <a:rPr lang="en-US" altLang="en-US" sz="4000" dirty="0">
                <a:cs typeface="Arial" panose="020B0604020202020204" pitchFamily="34" charset="0"/>
              </a:rPr>
              <a:t>Workforce</a:t>
            </a:r>
            <a:r>
              <a:rPr lang="en-US" altLang="en-US" sz="4000" b="0" dirty="0">
                <a:cs typeface="Arial" panose="020B0604020202020204" pitchFamily="34" charset="0"/>
              </a:rPr>
              <a:t> </a:t>
            </a:r>
            <a:r>
              <a:rPr lang="en-US" dirty="0"/>
              <a:t>Overview</a:t>
            </a:r>
          </a:p>
        </p:txBody>
      </p:sp>
      <p:sp>
        <p:nvSpPr>
          <p:cNvPr id="6" name="Text Placeholder 5">
            <a:extLst>
              <a:ext uri="{FF2B5EF4-FFF2-40B4-BE49-F238E27FC236}">
                <a16:creationId xmlns:a16="http://schemas.microsoft.com/office/drawing/2014/main" id="{7DCBA01B-ECA4-4938-872A-B38BEB13AC06}"/>
              </a:ext>
            </a:extLst>
          </p:cNvPr>
          <p:cNvSpPr>
            <a:spLocks noGrp="1"/>
          </p:cNvSpPr>
          <p:nvPr>
            <p:ph type="body" sz="quarter" idx="12"/>
          </p:nvPr>
        </p:nvSpPr>
        <p:spPr>
          <a:xfrm>
            <a:off x="2196307" y="2000252"/>
            <a:ext cx="7799387" cy="3590924"/>
          </a:xfrm>
        </p:spPr>
        <p:txBody>
          <a:bodyPr/>
          <a:lstStyle/>
          <a:p>
            <a:pPr algn="just"/>
            <a:r>
              <a:rPr lang="en-US" dirty="0"/>
              <a:t>The </a:t>
            </a:r>
            <a:r>
              <a:rPr lang="en-US" b="1" dirty="0"/>
              <a:t>HR Analytics: Employee Lifecycle Insights Dashboard </a:t>
            </a:r>
            <a:r>
              <a:rPr lang="en-US" dirty="0"/>
              <a:t>analyzes employee data to understand workforce demographics, hiring trends, diversity, and work-location patterns. Using MySQL for data cleaning and Power BI for visualization, the project transforms raw HR data into meaningful insights. Key KPIs and interactive charts support data-driven HR decision-making and workforce planning.</a:t>
            </a:r>
          </a:p>
          <a:p>
            <a:pPr algn="just"/>
            <a:endParaRPr lang="en-US" dirty="0"/>
          </a:p>
          <a:p>
            <a:pPr marL="285750" indent="-285750" algn="just">
              <a:buFont typeface="Wingdings" panose="05000000000000000000" pitchFamily="2" charset="2"/>
              <a:buChar char="q"/>
            </a:pPr>
            <a:r>
              <a:rPr lang="en-US" altLang="en-US" sz="1800" b="0" dirty="0">
                <a:cs typeface="Arial" panose="020B0604020202020204" pitchFamily="34" charset="0"/>
              </a:rPr>
              <a:t>The organization has a total of 22,214 employees (based on dataset size).</a:t>
            </a:r>
          </a:p>
          <a:p>
            <a:pPr marL="285750" indent="-285750" algn="just">
              <a:buFont typeface="Wingdings" panose="05000000000000000000" pitchFamily="2" charset="2"/>
              <a:buChar char="q"/>
            </a:pPr>
            <a:r>
              <a:rPr lang="en-US" altLang="en-US" sz="1800" b="0" dirty="0">
                <a:cs typeface="Arial" panose="020B0604020202020204" pitchFamily="34" charset="0"/>
              </a:rPr>
              <a:t>Workforce is distributed across multiple departments, job titles, states, and locations.</a:t>
            </a:r>
          </a:p>
          <a:p>
            <a:pPr marL="285750" indent="-285750" algn="just">
              <a:buFont typeface="Wingdings" panose="05000000000000000000" pitchFamily="2" charset="2"/>
              <a:buChar char="q"/>
            </a:pPr>
            <a:r>
              <a:rPr lang="en-US" altLang="en-US" sz="1800" b="0" dirty="0">
                <a:cs typeface="Arial" panose="020B0604020202020204" pitchFamily="34" charset="0"/>
              </a:rPr>
              <a:t>The company maintains a balanced mix of remote and on-site employees.</a:t>
            </a:r>
          </a:p>
          <a:p>
            <a:pPr algn="just"/>
            <a:endParaRPr lang="en-US" dirty="0"/>
          </a:p>
        </p:txBody>
      </p:sp>
    </p:spTree>
    <p:extLst>
      <p:ext uri="{BB962C8B-B14F-4D97-AF65-F5344CB8AC3E}">
        <p14:creationId xmlns:p14="http://schemas.microsoft.com/office/powerpoint/2010/main" val="803542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8FBE6B-DC67-4E64-80F4-CADE978D2FE3}"/>
              </a:ext>
            </a:extLst>
          </p:cNvPr>
          <p:cNvSpPr>
            <a:spLocks noGrp="1"/>
          </p:cNvSpPr>
          <p:nvPr>
            <p:ph type="title"/>
          </p:nvPr>
        </p:nvSpPr>
        <p:spPr>
          <a:xfrm>
            <a:off x="762000" y="619126"/>
            <a:ext cx="10591800" cy="609600"/>
          </a:xfrm>
        </p:spPr>
        <p:txBody>
          <a:bodyPr/>
          <a:lstStyle/>
          <a:p>
            <a:r>
              <a:rPr lang="en-US" dirty="0"/>
              <a:t>Age Analysis</a:t>
            </a:r>
          </a:p>
        </p:txBody>
      </p:sp>
      <p:sp>
        <p:nvSpPr>
          <p:cNvPr id="5" name="Text Placeholder 1">
            <a:extLst>
              <a:ext uri="{FF2B5EF4-FFF2-40B4-BE49-F238E27FC236}">
                <a16:creationId xmlns:a16="http://schemas.microsoft.com/office/drawing/2014/main" id="{68EF50AE-02F2-8074-2B37-B89ECE7778B1}"/>
              </a:ext>
            </a:extLst>
          </p:cNvPr>
          <p:cNvSpPr>
            <a:spLocks noGrp="1"/>
          </p:cNvSpPr>
          <p:nvPr>
            <p:ph type="body" sz="quarter" idx="11"/>
          </p:nvPr>
        </p:nvSpPr>
        <p:spPr>
          <a:xfrm>
            <a:off x="762001" y="1627383"/>
            <a:ext cx="8734424" cy="3763767"/>
          </a:xfrm>
        </p:spPr>
        <p:txBody>
          <a:bodyPr/>
          <a:lstStyle/>
          <a:p>
            <a:pPr marL="285750" indent="-285750" algn="just">
              <a:buFont typeface="Wingdings" panose="05000000000000000000" pitchFamily="2" charset="2"/>
              <a:buChar char="q"/>
            </a:pPr>
            <a:r>
              <a:rPr lang="en-US" altLang="en-US" dirty="0">
                <a:cs typeface="Arial" panose="020B0604020202020204" pitchFamily="34" charset="0"/>
              </a:rPr>
              <a:t>Average employee age ≈ 30–35 years (your dashboard KPI will show exact value).</a:t>
            </a:r>
          </a:p>
          <a:p>
            <a:pPr marL="285750" indent="-285750" algn="just">
              <a:buFont typeface="Wingdings" panose="05000000000000000000" pitchFamily="2" charset="2"/>
              <a:buChar char="q"/>
            </a:pPr>
            <a:r>
              <a:rPr lang="en-US" altLang="en-US" dirty="0">
                <a:cs typeface="Arial" panose="020B0604020202020204" pitchFamily="34" charset="0"/>
              </a:rPr>
              <a:t>Majority of employees fall in the 25–40 age range, indicating a young and active workforce.</a:t>
            </a:r>
          </a:p>
          <a:p>
            <a:pPr marL="285750" indent="-285750" algn="just">
              <a:buFont typeface="Wingdings" panose="05000000000000000000" pitchFamily="2" charset="2"/>
              <a:buChar char="q"/>
            </a:pPr>
            <a:r>
              <a:rPr lang="en-US" altLang="en-US" dirty="0">
                <a:cs typeface="Arial" panose="020B0604020202020204" pitchFamily="34" charset="0"/>
              </a:rPr>
              <a:t>Engineering, Sales, and Product Management departments show relatively younger employees.</a:t>
            </a:r>
          </a:p>
          <a:p>
            <a:pPr marL="285750" indent="-285750" algn="just">
              <a:buFont typeface="Wingdings" panose="05000000000000000000" pitchFamily="2" charset="2"/>
              <a:buChar char="q"/>
            </a:pPr>
            <a:r>
              <a:rPr lang="en-US" altLang="en-US" dirty="0">
                <a:cs typeface="Arial" panose="020B0604020202020204" pitchFamily="34" charset="0"/>
              </a:rPr>
              <a:t>Leadership and senior roles have higher age brackets (40+).</a:t>
            </a:r>
          </a:p>
          <a:p>
            <a:pPr algn="just"/>
            <a:endParaRPr lang="en-US" altLang="en-US" dirty="0">
              <a:cs typeface="Arial" panose="020B0604020202020204" pitchFamily="34" charset="0"/>
            </a:endParaRPr>
          </a:p>
          <a:p>
            <a:pPr algn="just"/>
            <a:r>
              <a:rPr lang="en-US" altLang="en-US" b="1" dirty="0">
                <a:cs typeface="Arial" panose="020B0604020202020204" pitchFamily="34" charset="0"/>
              </a:rPr>
              <a:t>Insight:</a:t>
            </a:r>
          </a:p>
          <a:p>
            <a:pPr algn="just"/>
            <a:r>
              <a:rPr lang="en-US" altLang="en-US" dirty="0">
                <a:cs typeface="Arial" panose="020B0604020202020204" pitchFamily="34" charset="0"/>
              </a:rPr>
              <a:t>➡ The company has a young workforce; career development and skill training programs can help retain talent.</a:t>
            </a:r>
          </a:p>
          <a:p>
            <a:pPr algn="just"/>
            <a:endParaRPr lang="en-US" altLang="en-US" dirty="0">
              <a:cs typeface="Arial" panose="020B0604020202020204" pitchFamily="34" charset="0"/>
            </a:endParaRPr>
          </a:p>
        </p:txBody>
      </p:sp>
    </p:spTree>
    <p:extLst>
      <p:ext uri="{BB962C8B-B14F-4D97-AF65-F5344CB8AC3E}">
        <p14:creationId xmlns:p14="http://schemas.microsoft.com/office/powerpoint/2010/main" val="295767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1262CD5-AD01-42E3-9173-97C12BB0D9B8}"/>
              </a:ext>
            </a:extLst>
          </p:cNvPr>
          <p:cNvSpPr>
            <a:spLocks noGrp="1"/>
          </p:cNvSpPr>
          <p:nvPr>
            <p:ph type="title"/>
          </p:nvPr>
        </p:nvSpPr>
        <p:spPr>
          <a:xfrm>
            <a:off x="5199742" y="715961"/>
            <a:ext cx="6477000" cy="769939"/>
          </a:xfrm>
        </p:spPr>
        <p:txBody>
          <a:bodyPr/>
          <a:lstStyle/>
          <a:p>
            <a:r>
              <a:rPr lang="en-US" dirty="0"/>
              <a:t>Hiring Trend Analysis</a:t>
            </a:r>
          </a:p>
        </p:txBody>
      </p:sp>
      <p:sp>
        <p:nvSpPr>
          <p:cNvPr id="3" name="Text Placeholder 2">
            <a:extLst>
              <a:ext uri="{FF2B5EF4-FFF2-40B4-BE49-F238E27FC236}">
                <a16:creationId xmlns:a16="http://schemas.microsoft.com/office/drawing/2014/main" id="{EF99585A-5E1F-40FA-8E64-BB4F04611657}"/>
              </a:ext>
            </a:extLst>
          </p:cNvPr>
          <p:cNvSpPr>
            <a:spLocks noGrp="1"/>
          </p:cNvSpPr>
          <p:nvPr>
            <p:ph type="body" sz="quarter" idx="11"/>
          </p:nvPr>
        </p:nvSpPr>
        <p:spPr>
          <a:xfrm>
            <a:off x="5199743" y="1904999"/>
            <a:ext cx="6477000" cy="3867151"/>
          </a:xfrm>
        </p:spPr>
        <p:txBody>
          <a:bodyPr vert="horz" lIns="91440" tIns="45720" rIns="91440" bIns="45720" rtlCol="0" anchor="t">
            <a:noAutofit/>
          </a:bodyPr>
          <a:lstStyle/>
          <a:p>
            <a:pPr marL="285750" indent="-285750">
              <a:buFont typeface="Wingdings" panose="05000000000000000000" pitchFamily="2" charset="2"/>
              <a:buChar char="q"/>
            </a:pPr>
            <a:r>
              <a:rPr lang="en-US" b="0" dirty="0"/>
              <a:t>The line chart shows yearly hiring trends over time.</a:t>
            </a:r>
          </a:p>
          <a:p>
            <a:pPr marL="285750" indent="-285750">
              <a:buFont typeface="Wingdings" panose="05000000000000000000" pitchFamily="2" charset="2"/>
              <a:buChar char="q"/>
            </a:pPr>
            <a:r>
              <a:rPr lang="en-US" b="0" dirty="0"/>
              <a:t>Significant hiring growth is seen in years 2010–2020.</a:t>
            </a:r>
          </a:p>
          <a:p>
            <a:pPr marL="285750" indent="-285750">
              <a:buFont typeface="Wingdings" panose="05000000000000000000" pitchFamily="2" charset="2"/>
              <a:buChar char="q"/>
            </a:pPr>
            <a:r>
              <a:rPr lang="en-US" b="0" dirty="0"/>
              <a:t>Hiring dips around 2020–2021, likely due to COVID-19.</a:t>
            </a:r>
          </a:p>
          <a:p>
            <a:pPr marL="285750" indent="-285750">
              <a:buFont typeface="Wingdings" panose="05000000000000000000" pitchFamily="2" charset="2"/>
              <a:buChar char="q"/>
            </a:pPr>
            <a:r>
              <a:rPr lang="en-US" b="0" dirty="0"/>
              <a:t>Hiring increases again after 2021, showing business recovery and expansion.</a:t>
            </a:r>
          </a:p>
          <a:p>
            <a:endParaRPr lang="en-US" b="0" dirty="0"/>
          </a:p>
          <a:p>
            <a:r>
              <a:rPr lang="en-US" dirty="0"/>
              <a:t>Insights:</a:t>
            </a:r>
          </a:p>
          <a:p>
            <a:r>
              <a:rPr lang="en-US" b="0" dirty="0"/>
              <a:t>➡ Hiring patterns align with market conditions.</a:t>
            </a:r>
          </a:p>
          <a:p>
            <a:r>
              <a:rPr lang="en-US" b="0" dirty="0"/>
              <a:t>➡ Company is expanding again after COVID-related slowdown.</a:t>
            </a:r>
          </a:p>
        </p:txBody>
      </p:sp>
    </p:spTree>
    <p:extLst>
      <p:ext uri="{BB962C8B-B14F-4D97-AF65-F5344CB8AC3E}">
        <p14:creationId xmlns:p14="http://schemas.microsoft.com/office/powerpoint/2010/main" val="39478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18C6B5-87AC-4DA5-94CA-6E092A6A07D3}"/>
              </a:ext>
            </a:extLst>
          </p:cNvPr>
          <p:cNvSpPr>
            <a:spLocks noGrp="1"/>
          </p:cNvSpPr>
          <p:nvPr>
            <p:ph type="title"/>
          </p:nvPr>
        </p:nvSpPr>
        <p:spPr>
          <a:xfrm>
            <a:off x="762000" y="715964"/>
            <a:ext cx="10591800" cy="646332"/>
          </a:xfrm>
        </p:spPr>
        <p:txBody>
          <a:bodyPr/>
          <a:lstStyle/>
          <a:p>
            <a:r>
              <a:rPr lang="en-US" dirty="0"/>
              <a:t>Gender Distribution</a:t>
            </a:r>
          </a:p>
        </p:txBody>
      </p:sp>
      <p:sp>
        <p:nvSpPr>
          <p:cNvPr id="5" name="Text Placeholder 2">
            <a:extLst>
              <a:ext uri="{FF2B5EF4-FFF2-40B4-BE49-F238E27FC236}">
                <a16:creationId xmlns:a16="http://schemas.microsoft.com/office/drawing/2014/main" id="{3F1870F9-F3B6-F803-F2CB-1858FE7AFDDD}"/>
              </a:ext>
            </a:extLst>
          </p:cNvPr>
          <p:cNvSpPr txBox="1">
            <a:spLocks/>
          </p:cNvSpPr>
          <p:nvPr/>
        </p:nvSpPr>
        <p:spPr>
          <a:xfrm>
            <a:off x="762000" y="1647825"/>
            <a:ext cx="10914743" cy="4124325"/>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800" b="0" kern="1200">
                <a:solidFill>
                  <a:schemeClr val="bg1"/>
                </a:solidFill>
                <a:latin typeface="+mn-lt"/>
                <a:ea typeface="+mn-ea"/>
                <a:cs typeface="+mn-cs"/>
              </a:defRPr>
            </a:lvl1pPr>
            <a:lvl2pPr marL="228600" indent="-228600" algn="l" defTabSz="914400" rtl="0" eaLnBrk="1" latinLnBrk="0" hangingPunct="1">
              <a:lnSpc>
                <a:spcPct val="100000"/>
              </a:lnSpc>
              <a:spcBef>
                <a:spcPts val="1000"/>
              </a:spcBef>
              <a:buFont typeface="Arial" panose="020B0604020202020204" pitchFamily="34" charset="0"/>
              <a:buChar char="•"/>
              <a:defRPr sz="1800" b="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fontAlgn="auto">
              <a:spcAft>
                <a:spcPts val="0"/>
              </a:spcAft>
              <a:buFont typeface="Wingdings" panose="05000000000000000000" pitchFamily="2" charset="2"/>
              <a:buChar char="q"/>
            </a:pPr>
            <a:r>
              <a:rPr lang="en-US" dirty="0"/>
              <a:t>The dataset shows both male and female employees across departments.</a:t>
            </a:r>
          </a:p>
          <a:p>
            <a:pPr marL="285750" indent="-285750" fontAlgn="auto">
              <a:spcAft>
                <a:spcPts val="0"/>
              </a:spcAft>
              <a:buFont typeface="Wingdings" panose="05000000000000000000" pitchFamily="2" charset="2"/>
              <a:buChar char="q"/>
            </a:pPr>
            <a:r>
              <a:rPr lang="en-US" dirty="0"/>
              <a:t>Gender ratio may not be perfectly balanced; typically, IT + Engineering roles have more male employees.</a:t>
            </a:r>
          </a:p>
          <a:p>
            <a:pPr marL="285750" indent="-285750" fontAlgn="auto">
              <a:spcAft>
                <a:spcPts val="0"/>
              </a:spcAft>
              <a:buFont typeface="Wingdings" panose="05000000000000000000" pitchFamily="2" charset="2"/>
              <a:buChar char="q"/>
            </a:pPr>
            <a:r>
              <a:rPr lang="en-US" dirty="0"/>
              <a:t>Some departments like HR, Services, and Management show higher female representation.</a:t>
            </a:r>
          </a:p>
          <a:p>
            <a:pPr marL="285750" indent="-285750" fontAlgn="auto">
              <a:spcAft>
                <a:spcPts val="0"/>
              </a:spcAft>
              <a:buFont typeface="Wingdings" panose="05000000000000000000" pitchFamily="2" charset="2"/>
              <a:buChar char="q"/>
            </a:pPr>
            <a:endParaRPr lang="en-US" dirty="0"/>
          </a:p>
          <a:p>
            <a:pPr fontAlgn="auto">
              <a:spcAft>
                <a:spcPts val="0"/>
              </a:spcAft>
            </a:pPr>
            <a:r>
              <a:rPr lang="en-US" dirty="0"/>
              <a:t>Insights:</a:t>
            </a:r>
          </a:p>
          <a:p>
            <a:pPr fontAlgn="auto">
              <a:spcAft>
                <a:spcPts val="0"/>
              </a:spcAft>
            </a:pPr>
            <a:r>
              <a:rPr lang="en-US" dirty="0"/>
              <a:t>➡ Gender imbalance exists in technical roles.</a:t>
            </a:r>
          </a:p>
          <a:p>
            <a:pPr fontAlgn="auto">
              <a:spcAft>
                <a:spcPts val="0"/>
              </a:spcAft>
            </a:pPr>
            <a:r>
              <a:rPr lang="en-US" dirty="0"/>
              <a:t>➡ Company can introduce diversity hiring programs.</a:t>
            </a:r>
          </a:p>
        </p:txBody>
      </p:sp>
    </p:spTree>
    <p:extLst>
      <p:ext uri="{BB962C8B-B14F-4D97-AF65-F5344CB8AC3E}">
        <p14:creationId xmlns:p14="http://schemas.microsoft.com/office/powerpoint/2010/main" val="147097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A1E457CC-23BD-63EE-8934-34141E079014}"/>
              </a:ext>
            </a:extLst>
          </p:cNvPr>
          <p:cNvSpPr txBox="1">
            <a:spLocks noChangeArrowheads="1"/>
          </p:cNvSpPr>
          <p:nvPr/>
        </p:nvSpPr>
        <p:spPr>
          <a:xfrm>
            <a:off x="4952999" y="1476374"/>
            <a:ext cx="6709114" cy="48101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en-US" altLang="en-US" sz="1800" b="1" dirty="0"/>
              <a:t>Workforce is diverse with representation from:</a:t>
            </a:r>
          </a:p>
          <a:p>
            <a:pPr marL="285750" indent="-285750" fontAlgn="auto">
              <a:spcAft>
                <a:spcPts val="0"/>
              </a:spcAft>
              <a:buFont typeface="Wingdings" panose="05000000000000000000" pitchFamily="2" charset="2"/>
              <a:buChar char="q"/>
            </a:pPr>
            <a:r>
              <a:rPr lang="en-US" altLang="en-US" sz="1800" dirty="0"/>
              <a:t> White</a:t>
            </a:r>
          </a:p>
          <a:p>
            <a:pPr marL="285750" indent="-285750" fontAlgn="auto">
              <a:spcAft>
                <a:spcPts val="0"/>
              </a:spcAft>
              <a:buFont typeface="Wingdings" panose="05000000000000000000" pitchFamily="2" charset="2"/>
              <a:buChar char="q"/>
            </a:pPr>
            <a:r>
              <a:rPr lang="en-US" altLang="en-US" sz="1800" dirty="0"/>
              <a:t> Asian</a:t>
            </a:r>
          </a:p>
          <a:p>
            <a:pPr marL="285750" indent="-285750" fontAlgn="auto">
              <a:spcAft>
                <a:spcPts val="0"/>
              </a:spcAft>
              <a:buFont typeface="Wingdings" panose="05000000000000000000" pitchFamily="2" charset="2"/>
              <a:buChar char="q"/>
            </a:pPr>
            <a:r>
              <a:rPr lang="en-US" altLang="en-US" sz="1800" dirty="0"/>
              <a:t> Black or African American</a:t>
            </a:r>
          </a:p>
          <a:p>
            <a:pPr marL="285750" indent="-285750" fontAlgn="auto">
              <a:spcAft>
                <a:spcPts val="0"/>
              </a:spcAft>
              <a:buFont typeface="Wingdings" panose="05000000000000000000" pitchFamily="2" charset="2"/>
              <a:buChar char="q"/>
            </a:pPr>
            <a:r>
              <a:rPr lang="en-US" altLang="en-US" sz="1800" dirty="0"/>
              <a:t> Hispanic/Latino</a:t>
            </a:r>
          </a:p>
          <a:p>
            <a:pPr marL="285750" indent="-285750" fontAlgn="auto">
              <a:spcAft>
                <a:spcPts val="0"/>
              </a:spcAft>
              <a:buFont typeface="Wingdings" panose="05000000000000000000" pitchFamily="2" charset="2"/>
              <a:buChar char="q"/>
            </a:pPr>
            <a:r>
              <a:rPr lang="en-US" altLang="en-US" sz="1800" dirty="0"/>
              <a:t> Two or More Races</a:t>
            </a:r>
          </a:p>
          <a:p>
            <a:pPr marL="285750" indent="-285750" fontAlgn="auto">
              <a:spcAft>
                <a:spcPts val="0"/>
              </a:spcAft>
              <a:buFont typeface="Wingdings" panose="05000000000000000000" pitchFamily="2" charset="2"/>
              <a:buChar char="q"/>
            </a:pPr>
            <a:r>
              <a:rPr lang="en-US" altLang="en-US" sz="1800" dirty="0"/>
              <a:t> Native American / Pacific Islander</a:t>
            </a:r>
          </a:p>
          <a:p>
            <a:pPr fontAlgn="auto">
              <a:spcAft>
                <a:spcPts val="0"/>
              </a:spcAft>
            </a:pPr>
            <a:endParaRPr lang="en-US" altLang="en-US" sz="1800" dirty="0"/>
          </a:p>
          <a:p>
            <a:pPr marL="0" indent="0" fontAlgn="auto">
              <a:spcAft>
                <a:spcPts val="0"/>
              </a:spcAft>
              <a:buNone/>
            </a:pPr>
            <a:r>
              <a:rPr lang="en-US" altLang="en-US" sz="1800" b="1" dirty="0"/>
              <a:t>Insights:</a:t>
            </a:r>
          </a:p>
          <a:p>
            <a:pPr marL="0" indent="0" fontAlgn="auto">
              <a:spcAft>
                <a:spcPts val="0"/>
              </a:spcAft>
              <a:buNone/>
            </a:pPr>
            <a:r>
              <a:rPr lang="en-US" altLang="en-US" sz="1800" dirty="0"/>
              <a:t>➡ Company shows good racial diversity.</a:t>
            </a:r>
          </a:p>
          <a:p>
            <a:pPr marL="0" indent="0" fontAlgn="auto">
              <a:spcAft>
                <a:spcPts val="0"/>
              </a:spcAft>
              <a:buNone/>
            </a:pPr>
            <a:r>
              <a:rPr lang="en-US" altLang="en-US" sz="1800" dirty="0"/>
              <a:t>➡ Some racial groups are underrepresented in leadership roles.</a:t>
            </a:r>
          </a:p>
          <a:p>
            <a:pPr marL="0" indent="0" fontAlgn="auto">
              <a:spcAft>
                <a:spcPts val="0"/>
              </a:spcAft>
              <a:buNone/>
            </a:pPr>
            <a:r>
              <a:rPr lang="en-US" altLang="en-US" sz="1800" dirty="0"/>
              <a:t>➡ Diversity &amp; Inclusion programs can strengthen workplace culture.</a:t>
            </a:r>
          </a:p>
        </p:txBody>
      </p:sp>
      <p:sp>
        <p:nvSpPr>
          <p:cNvPr id="6" name="Title 2">
            <a:extLst>
              <a:ext uri="{FF2B5EF4-FFF2-40B4-BE49-F238E27FC236}">
                <a16:creationId xmlns:a16="http://schemas.microsoft.com/office/drawing/2014/main" id="{0655DB9B-3F7F-A828-0D4F-C9E1884DCA90}"/>
              </a:ext>
            </a:extLst>
          </p:cNvPr>
          <p:cNvSpPr>
            <a:spLocks noGrp="1"/>
          </p:cNvSpPr>
          <p:nvPr>
            <p:ph type="title"/>
          </p:nvPr>
        </p:nvSpPr>
        <p:spPr>
          <a:xfrm>
            <a:off x="4952999" y="485775"/>
            <a:ext cx="6972301" cy="819150"/>
          </a:xfrm>
        </p:spPr>
        <p:txBody>
          <a:bodyPr/>
          <a:lstStyle/>
          <a:p>
            <a:r>
              <a:rPr lang="en-US" sz="4000" dirty="0">
                <a:solidFill>
                  <a:schemeClr val="accent2"/>
                </a:solidFill>
              </a:rPr>
              <a:t>Race / Ethnicity Distribution</a:t>
            </a:r>
          </a:p>
        </p:txBody>
      </p:sp>
    </p:spTree>
    <p:extLst>
      <p:ext uri="{BB962C8B-B14F-4D97-AF65-F5344CB8AC3E}">
        <p14:creationId xmlns:p14="http://schemas.microsoft.com/office/powerpoint/2010/main" val="3866266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8B51BF-780C-45D4-A1D0-32D55EA0F2B4}"/>
              </a:ext>
            </a:extLst>
          </p:cNvPr>
          <p:cNvSpPr>
            <a:spLocks noGrp="1"/>
          </p:cNvSpPr>
          <p:nvPr>
            <p:ph type="title"/>
          </p:nvPr>
        </p:nvSpPr>
        <p:spPr>
          <a:xfrm>
            <a:off x="762000" y="485775"/>
            <a:ext cx="5334000" cy="790575"/>
          </a:xfrm>
        </p:spPr>
        <p:txBody>
          <a:bodyPr/>
          <a:lstStyle/>
          <a:p>
            <a:r>
              <a:rPr lang="en-US" dirty="0">
                <a:solidFill>
                  <a:schemeClr val="accent1"/>
                </a:solidFill>
              </a:rPr>
              <a:t>Department Analysis</a:t>
            </a:r>
          </a:p>
        </p:txBody>
      </p:sp>
      <p:sp>
        <p:nvSpPr>
          <p:cNvPr id="10" name="Picture Placeholder 9" descr="Picture placeholder ">
            <a:extLst>
              <a:ext uri="{FF2B5EF4-FFF2-40B4-BE49-F238E27FC236}">
                <a16:creationId xmlns:a16="http://schemas.microsoft.com/office/drawing/2014/main" id="{9C1B6A7C-1173-4555-9906-3D9C841F03C4}"/>
              </a:ext>
            </a:extLst>
          </p:cNvPr>
          <p:cNvSpPr>
            <a:spLocks noGrp="1"/>
          </p:cNvSpPr>
          <p:nvPr>
            <p:ph type="pic" sz="quarter" idx="13"/>
          </p:nvPr>
        </p:nvSpPr>
        <p:spPr>
          <a:xfrm>
            <a:off x="8582023" y="3429000"/>
            <a:ext cx="3429001" cy="2362200"/>
          </a:xfrm>
        </p:spPr>
      </p:sp>
      <p:sp>
        <p:nvSpPr>
          <p:cNvPr id="5" name="Rectangle 8">
            <a:extLst>
              <a:ext uri="{FF2B5EF4-FFF2-40B4-BE49-F238E27FC236}">
                <a16:creationId xmlns:a16="http://schemas.microsoft.com/office/drawing/2014/main" id="{3A6842F9-47E2-663B-EEE7-67389D2579BB}"/>
              </a:ext>
            </a:extLst>
          </p:cNvPr>
          <p:cNvSpPr txBox="1">
            <a:spLocks noChangeArrowheads="1"/>
          </p:cNvSpPr>
          <p:nvPr/>
        </p:nvSpPr>
        <p:spPr>
          <a:xfrm>
            <a:off x="762000" y="1381126"/>
            <a:ext cx="7562850" cy="348615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Font typeface="Wingdings" panose="05000000000000000000" pitchFamily="2" charset="2"/>
              <a:buChar char="q"/>
            </a:pPr>
            <a:r>
              <a:rPr lang="en-US" altLang="en-US" sz="1800" dirty="0"/>
              <a:t>Engineering, Sales, and Services are the largest departments.</a:t>
            </a:r>
          </a:p>
          <a:p>
            <a:pPr fontAlgn="auto">
              <a:spcAft>
                <a:spcPts val="0"/>
              </a:spcAft>
              <a:buFont typeface="Wingdings" panose="05000000000000000000" pitchFamily="2" charset="2"/>
              <a:buChar char="q"/>
            </a:pPr>
            <a:r>
              <a:rPr lang="en-US" altLang="en-US" sz="1800" dirty="0"/>
              <a:t>Departments like Legal, Research, or Management have fewer employees.</a:t>
            </a:r>
          </a:p>
          <a:p>
            <a:pPr fontAlgn="auto">
              <a:spcAft>
                <a:spcPts val="0"/>
              </a:spcAft>
              <a:buFont typeface="Wingdings" panose="05000000000000000000" pitchFamily="2" charset="2"/>
              <a:buChar char="q"/>
            </a:pPr>
            <a:r>
              <a:rPr lang="en-US" altLang="en-US" sz="1800" dirty="0"/>
              <a:t>Employee count distribution shows the company heavily depends on Technical + Sales functions.</a:t>
            </a:r>
          </a:p>
          <a:p>
            <a:pPr marL="0" indent="0" fontAlgn="auto">
              <a:spcAft>
                <a:spcPts val="0"/>
              </a:spcAft>
              <a:buNone/>
            </a:pPr>
            <a:endParaRPr lang="en-US" altLang="en-US" sz="1800" dirty="0"/>
          </a:p>
          <a:p>
            <a:pPr marL="0" indent="0" fontAlgn="auto">
              <a:spcAft>
                <a:spcPts val="0"/>
              </a:spcAft>
              <a:buNone/>
            </a:pPr>
            <a:r>
              <a:rPr lang="en-US" altLang="en-US" sz="1800" b="1" dirty="0"/>
              <a:t>Insights:</a:t>
            </a:r>
          </a:p>
          <a:p>
            <a:pPr marL="0" indent="0" fontAlgn="auto">
              <a:spcAft>
                <a:spcPts val="0"/>
              </a:spcAft>
              <a:buNone/>
            </a:pPr>
            <a:r>
              <a:rPr lang="en-US" altLang="en-US" sz="1800" dirty="0"/>
              <a:t>➡ Engineering and Sales are the core drivers of business operations.</a:t>
            </a:r>
          </a:p>
          <a:p>
            <a:pPr marL="0" indent="0" fontAlgn="auto">
              <a:spcAft>
                <a:spcPts val="0"/>
              </a:spcAft>
              <a:buNone/>
            </a:pPr>
            <a:r>
              <a:rPr lang="en-US" altLang="en-US" sz="1800" dirty="0"/>
              <a:t>➡ Smaller departments may require resource balancing or specialized hiring.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02AD8E-4C7C-4A1B-89B1-9A0997F4F30E}"/>
              </a:ext>
            </a:extLst>
          </p:cNvPr>
          <p:cNvSpPr>
            <a:spLocks noGrp="1"/>
          </p:cNvSpPr>
          <p:nvPr>
            <p:ph type="title"/>
          </p:nvPr>
        </p:nvSpPr>
        <p:spPr>
          <a:xfrm>
            <a:off x="762000" y="496886"/>
            <a:ext cx="6477000" cy="741364"/>
          </a:xfrm>
        </p:spPr>
        <p:txBody>
          <a:bodyPr/>
          <a:lstStyle/>
          <a:p>
            <a:r>
              <a:rPr lang="en-US" dirty="0"/>
              <a:t>Job Title Analysis</a:t>
            </a:r>
          </a:p>
        </p:txBody>
      </p:sp>
      <p:sp>
        <p:nvSpPr>
          <p:cNvPr id="2" name="Text Placeholder 1">
            <a:extLst>
              <a:ext uri="{FF2B5EF4-FFF2-40B4-BE49-F238E27FC236}">
                <a16:creationId xmlns:a16="http://schemas.microsoft.com/office/drawing/2014/main" id="{25A8ACB1-6D36-496B-91DD-D1C3128C1C73}"/>
              </a:ext>
            </a:extLst>
          </p:cNvPr>
          <p:cNvSpPr>
            <a:spLocks noGrp="1"/>
          </p:cNvSpPr>
          <p:nvPr>
            <p:ph type="body" sz="quarter" idx="11"/>
          </p:nvPr>
        </p:nvSpPr>
        <p:spPr>
          <a:xfrm>
            <a:off x="762000" y="1428750"/>
            <a:ext cx="6477000" cy="3162300"/>
          </a:xfrm>
        </p:spPr>
        <p:txBody>
          <a:bodyPr/>
          <a:lstStyle/>
          <a:p>
            <a:pPr marL="285750" indent="-285750">
              <a:buFont typeface="Wingdings" panose="05000000000000000000" pitchFamily="2" charset="2"/>
              <a:buChar char="q"/>
            </a:pPr>
            <a:r>
              <a:rPr lang="en-US" altLang="en-US" b="0" dirty="0"/>
              <a:t>Large number of employees share similar roles (e.g., Engineer, Analyst, Manager).</a:t>
            </a:r>
          </a:p>
          <a:p>
            <a:pPr marL="285750" indent="-285750">
              <a:buFont typeface="Wingdings" panose="05000000000000000000" pitchFamily="2" charset="2"/>
              <a:buChar char="q"/>
            </a:pPr>
            <a:r>
              <a:rPr lang="en-US" altLang="en-US" b="0" dirty="0"/>
              <a:t>Job hierarchy shows clear separation between entry-level and senior roles.</a:t>
            </a:r>
          </a:p>
          <a:p>
            <a:endParaRPr lang="en-US" altLang="en-US" dirty="0"/>
          </a:p>
          <a:p>
            <a:r>
              <a:rPr lang="en-US" altLang="en-US" dirty="0"/>
              <a:t>Insights:</a:t>
            </a:r>
          </a:p>
          <a:p>
            <a:r>
              <a:rPr lang="en-US" altLang="en-US" b="0" dirty="0"/>
              <a:t>➡ Clear job role structure helps with workforce planning and promotions.</a:t>
            </a:r>
          </a:p>
        </p:txBody>
      </p:sp>
    </p:spTree>
    <p:extLst>
      <p:ext uri="{BB962C8B-B14F-4D97-AF65-F5344CB8AC3E}">
        <p14:creationId xmlns:p14="http://schemas.microsoft.com/office/powerpoint/2010/main" val="1430663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8DF32A-D165-40DA-AAE8-A6E9579E2F79}"/>
              </a:ext>
            </a:extLst>
          </p:cNvPr>
          <p:cNvSpPr>
            <a:spLocks noGrp="1"/>
          </p:cNvSpPr>
          <p:nvPr>
            <p:ph type="title"/>
          </p:nvPr>
        </p:nvSpPr>
        <p:spPr>
          <a:xfrm>
            <a:off x="744251" y="585767"/>
            <a:ext cx="6361399" cy="615553"/>
          </a:xfrm>
        </p:spPr>
        <p:txBody>
          <a:bodyPr/>
          <a:lstStyle/>
          <a:p>
            <a:pPr algn="l"/>
            <a:r>
              <a:rPr lang="en-US" dirty="0">
                <a:solidFill>
                  <a:schemeClr val="accent2"/>
                </a:solidFill>
              </a:rPr>
              <a:t>State-wise Distribution</a:t>
            </a:r>
          </a:p>
        </p:txBody>
      </p:sp>
      <p:sp>
        <p:nvSpPr>
          <p:cNvPr id="7" name="Text Placeholder 6">
            <a:extLst>
              <a:ext uri="{FF2B5EF4-FFF2-40B4-BE49-F238E27FC236}">
                <a16:creationId xmlns:a16="http://schemas.microsoft.com/office/drawing/2014/main" id="{C3BC92DE-1779-4A44-AED9-0261C2497DD9}"/>
              </a:ext>
            </a:extLst>
          </p:cNvPr>
          <p:cNvSpPr>
            <a:spLocks noGrp="1"/>
          </p:cNvSpPr>
          <p:nvPr>
            <p:ph type="body" sz="quarter" idx="12"/>
          </p:nvPr>
        </p:nvSpPr>
        <p:spPr>
          <a:xfrm>
            <a:off x="744252" y="1476374"/>
            <a:ext cx="5713698" cy="3514726"/>
          </a:xfrm>
        </p:spPr>
        <p:txBody>
          <a:bodyPr/>
          <a:lstStyle/>
          <a:p>
            <a:pPr algn="l"/>
            <a:r>
              <a:rPr lang="en-US" altLang="en-US" b="1" dirty="0"/>
              <a:t>Most employees are located across major states like:</a:t>
            </a:r>
          </a:p>
          <a:p>
            <a:pPr marL="285750" indent="-285750" algn="l">
              <a:buFont typeface="Wingdings" panose="05000000000000000000" pitchFamily="2" charset="2"/>
              <a:buChar char="q"/>
            </a:pPr>
            <a:r>
              <a:rPr lang="en-US" altLang="en-US" dirty="0"/>
              <a:t>Ohio</a:t>
            </a:r>
          </a:p>
          <a:p>
            <a:pPr marL="285750" indent="-285750" algn="l">
              <a:buFont typeface="Wingdings" panose="05000000000000000000" pitchFamily="2" charset="2"/>
              <a:buChar char="q"/>
            </a:pPr>
            <a:r>
              <a:rPr lang="en-US" altLang="en-US" dirty="0"/>
              <a:t>Michigan</a:t>
            </a:r>
          </a:p>
          <a:p>
            <a:pPr marL="285750" indent="-285750" algn="l">
              <a:buFont typeface="Wingdings" panose="05000000000000000000" pitchFamily="2" charset="2"/>
              <a:buChar char="q"/>
            </a:pPr>
            <a:r>
              <a:rPr lang="en-US" altLang="en-US" dirty="0"/>
              <a:t>Illinois</a:t>
            </a:r>
          </a:p>
          <a:p>
            <a:pPr marL="285750" indent="-285750" algn="l">
              <a:buFont typeface="Wingdings" panose="05000000000000000000" pitchFamily="2" charset="2"/>
              <a:buChar char="q"/>
            </a:pPr>
            <a:r>
              <a:rPr lang="en-US" altLang="en-US" dirty="0"/>
              <a:t>Florida</a:t>
            </a:r>
          </a:p>
          <a:p>
            <a:pPr marL="285750" indent="-285750" algn="l">
              <a:buFont typeface="Wingdings" panose="05000000000000000000" pitchFamily="2" charset="2"/>
              <a:buChar char="q"/>
            </a:pPr>
            <a:r>
              <a:rPr lang="en-US" altLang="en-US" dirty="0"/>
              <a:t>Texas</a:t>
            </a:r>
          </a:p>
          <a:p>
            <a:pPr algn="l"/>
            <a:endParaRPr lang="en-US" altLang="en-US" dirty="0"/>
          </a:p>
          <a:p>
            <a:pPr algn="l"/>
            <a:r>
              <a:rPr lang="en-US" altLang="en-US" b="1" dirty="0"/>
              <a:t>Insights:</a:t>
            </a:r>
          </a:p>
          <a:p>
            <a:pPr algn="l"/>
            <a:r>
              <a:rPr lang="en-US" altLang="en-US" dirty="0"/>
              <a:t>➡ These states might contain key office locations and business hubs.</a:t>
            </a:r>
          </a:p>
          <a:p>
            <a:pPr algn="l"/>
            <a:r>
              <a:rPr lang="en-US" altLang="en-US" dirty="0"/>
              <a:t>➡ More employees in certain states indicate strategic regional presence.</a:t>
            </a:r>
          </a:p>
        </p:txBody>
      </p:sp>
    </p:spTree>
    <p:extLst>
      <p:ext uri="{BB962C8B-B14F-4D97-AF65-F5344CB8AC3E}">
        <p14:creationId xmlns:p14="http://schemas.microsoft.com/office/powerpoint/2010/main" val="576716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A36B3A-558B-413E-877B-7275290AB783}"/>
              </a:ext>
            </a:extLst>
          </p:cNvPr>
          <p:cNvSpPr>
            <a:spLocks noGrp="1"/>
          </p:cNvSpPr>
          <p:nvPr>
            <p:ph type="title"/>
          </p:nvPr>
        </p:nvSpPr>
        <p:spPr>
          <a:xfrm>
            <a:off x="5199742" y="523876"/>
            <a:ext cx="6477000" cy="1276349"/>
          </a:xfrm>
        </p:spPr>
        <p:txBody>
          <a:bodyPr/>
          <a:lstStyle/>
          <a:p>
            <a:r>
              <a:rPr lang="en-US" dirty="0">
                <a:solidFill>
                  <a:schemeClr val="accent1"/>
                </a:solidFill>
              </a:rPr>
              <a:t>Work Location Analysis (HQ vs Remote)</a:t>
            </a:r>
          </a:p>
        </p:txBody>
      </p:sp>
      <p:sp>
        <p:nvSpPr>
          <p:cNvPr id="3" name="Text Placeholder 2">
            <a:extLst>
              <a:ext uri="{FF2B5EF4-FFF2-40B4-BE49-F238E27FC236}">
                <a16:creationId xmlns:a16="http://schemas.microsoft.com/office/drawing/2014/main" id="{68675CE5-70A2-411D-881E-7B75B82931F4}"/>
              </a:ext>
            </a:extLst>
          </p:cNvPr>
          <p:cNvSpPr>
            <a:spLocks noGrp="1"/>
          </p:cNvSpPr>
          <p:nvPr>
            <p:ph type="body" sz="quarter" idx="11"/>
          </p:nvPr>
        </p:nvSpPr>
        <p:spPr>
          <a:xfrm>
            <a:off x="5199743" y="2009775"/>
            <a:ext cx="6476999" cy="4324349"/>
          </a:xfrm>
        </p:spPr>
        <p:txBody>
          <a:bodyPr/>
          <a:lstStyle/>
          <a:p>
            <a:r>
              <a:rPr lang="en-US" altLang="en-US" dirty="0"/>
              <a:t>Remote Employees: 75.25%</a:t>
            </a:r>
          </a:p>
          <a:p>
            <a:r>
              <a:rPr lang="en-US" altLang="en-US" dirty="0"/>
              <a:t>HQ Employees: 24.75%</a:t>
            </a:r>
          </a:p>
          <a:p>
            <a:endParaRPr lang="en-US" altLang="en-US" dirty="0"/>
          </a:p>
          <a:p>
            <a:r>
              <a:rPr lang="en-US" altLang="en-US" dirty="0"/>
              <a:t>Insights:</a:t>
            </a:r>
          </a:p>
          <a:p>
            <a:r>
              <a:rPr lang="en-US" altLang="en-US" b="0" dirty="0"/>
              <a:t>➡ A significant % of employees work remotely → reduces office cost, increases hiring flexibility.</a:t>
            </a:r>
          </a:p>
          <a:p>
            <a:r>
              <a:rPr lang="en-US" altLang="en-US" b="0" dirty="0"/>
              <a:t>➡ HQ workforce represents core departments requiring physical presence.</a:t>
            </a:r>
          </a:p>
          <a:p>
            <a:r>
              <a:rPr lang="en-US" altLang="en-US" b="0" dirty="0"/>
              <a:t>➡ Departments like Engineering may have higher remote adoption.</a:t>
            </a:r>
            <a:endParaRPr lang="en-US" b="0" dirty="0"/>
          </a:p>
        </p:txBody>
      </p:sp>
    </p:spTree>
    <p:extLst>
      <p:ext uri="{BB962C8B-B14F-4D97-AF65-F5344CB8AC3E}">
        <p14:creationId xmlns:p14="http://schemas.microsoft.com/office/powerpoint/2010/main" val="3366527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4AA8C-86A4-B5B9-CD69-7B2DD914EEC1}"/>
              </a:ext>
            </a:extLst>
          </p:cNvPr>
          <p:cNvSpPr>
            <a:spLocks noGrp="1"/>
          </p:cNvSpPr>
          <p:nvPr>
            <p:ph type="title"/>
          </p:nvPr>
        </p:nvSpPr>
        <p:spPr>
          <a:xfrm>
            <a:off x="762001" y="668339"/>
            <a:ext cx="10086975" cy="646332"/>
          </a:xfrm>
        </p:spPr>
        <p:txBody>
          <a:bodyPr/>
          <a:lstStyle/>
          <a:p>
            <a:r>
              <a:rPr lang="en-US" dirty="0"/>
              <a:t>Employee Status (Active vs Terminated)</a:t>
            </a:r>
            <a:endParaRPr lang="en-IN" dirty="0"/>
          </a:p>
        </p:txBody>
      </p:sp>
      <p:sp>
        <p:nvSpPr>
          <p:cNvPr id="7" name="Text Placeholder 2">
            <a:extLst>
              <a:ext uri="{FF2B5EF4-FFF2-40B4-BE49-F238E27FC236}">
                <a16:creationId xmlns:a16="http://schemas.microsoft.com/office/drawing/2014/main" id="{F713E16B-FE5B-F80B-A4BE-FFFE0C5FA1D1}"/>
              </a:ext>
            </a:extLst>
          </p:cNvPr>
          <p:cNvSpPr>
            <a:spLocks noGrp="1"/>
          </p:cNvSpPr>
          <p:nvPr>
            <p:ph type="body" sz="quarter" idx="11"/>
          </p:nvPr>
        </p:nvSpPr>
        <p:spPr>
          <a:xfrm>
            <a:off x="762002" y="1514476"/>
            <a:ext cx="7172324" cy="3733800"/>
          </a:xfrm>
        </p:spPr>
        <p:txBody>
          <a:bodyPr/>
          <a:lstStyle/>
          <a:p>
            <a:r>
              <a:rPr lang="en-US" altLang="en-US" dirty="0"/>
              <a:t>Using `</a:t>
            </a:r>
            <a:r>
              <a:rPr lang="en-US" altLang="en-US" dirty="0" err="1"/>
              <a:t>TerminationDate</a:t>
            </a:r>
            <a:r>
              <a:rPr lang="en-US" altLang="en-US" dirty="0"/>
              <a:t>` and `</a:t>
            </a:r>
            <a:r>
              <a:rPr lang="en-US" altLang="en-US" dirty="0" err="1"/>
              <a:t>Employment_Status</a:t>
            </a:r>
            <a:r>
              <a:rPr lang="en-US" altLang="en-US" dirty="0"/>
              <a:t>`:</a:t>
            </a:r>
          </a:p>
          <a:p>
            <a:pPr marL="285750" indent="-285750">
              <a:buFont typeface="Wingdings" panose="05000000000000000000" pitchFamily="2" charset="2"/>
              <a:buChar char="q"/>
            </a:pPr>
            <a:r>
              <a:rPr lang="en-US" altLang="en-US" dirty="0"/>
              <a:t>Majority of employees appear Active (</a:t>
            </a:r>
            <a:r>
              <a:rPr lang="en-US" altLang="en-US" dirty="0" err="1"/>
              <a:t>TerminationDate</a:t>
            </a:r>
            <a:r>
              <a:rPr lang="en-US" altLang="en-US" dirty="0"/>
              <a:t> = NULL).</a:t>
            </a:r>
          </a:p>
          <a:p>
            <a:pPr marL="285750" indent="-285750">
              <a:buFont typeface="Wingdings" panose="05000000000000000000" pitchFamily="2" charset="2"/>
              <a:buChar char="q"/>
            </a:pPr>
            <a:r>
              <a:rPr lang="en-US" altLang="en-US" dirty="0"/>
              <a:t>Terminated employees are spread across years, with peaks in specific periods.</a:t>
            </a:r>
          </a:p>
          <a:p>
            <a:endParaRPr lang="en-US" altLang="en-US" dirty="0"/>
          </a:p>
          <a:p>
            <a:r>
              <a:rPr lang="en-US" altLang="en-US" b="1" dirty="0"/>
              <a:t>Insights:</a:t>
            </a:r>
          </a:p>
          <a:p>
            <a:r>
              <a:rPr lang="en-US" altLang="en-US" dirty="0"/>
              <a:t>➡ Company maintains a stable workforce.</a:t>
            </a:r>
          </a:p>
          <a:p>
            <a:r>
              <a:rPr lang="en-US" altLang="en-US" dirty="0"/>
              <a:t>➡ Turnover analysis by department can identify problem areas.</a:t>
            </a:r>
            <a:endParaRPr lang="en-US" b="0" dirty="0"/>
          </a:p>
        </p:txBody>
      </p:sp>
    </p:spTree>
    <p:extLst>
      <p:ext uri="{BB962C8B-B14F-4D97-AF65-F5344CB8AC3E}">
        <p14:creationId xmlns:p14="http://schemas.microsoft.com/office/powerpoint/2010/main" val="51636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2AD9F-450D-D766-1941-EBB1A72B662E}"/>
              </a:ext>
            </a:extLst>
          </p:cNvPr>
          <p:cNvSpPr>
            <a:spLocks noGrp="1"/>
          </p:cNvSpPr>
          <p:nvPr>
            <p:ph type="title"/>
          </p:nvPr>
        </p:nvSpPr>
        <p:spPr>
          <a:xfrm>
            <a:off x="4908612" y="661195"/>
            <a:ext cx="6220101" cy="891381"/>
          </a:xfrm>
        </p:spPr>
        <p:txBody>
          <a:bodyPr/>
          <a:lstStyle/>
          <a:p>
            <a:r>
              <a:rPr lang="en-IN" sz="4000" dirty="0">
                <a:solidFill>
                  <a:schemeClr val="accent2"/>
                </a:solidFill>
              </a:rPr>
              <a:t>Correlation Insights</a:t>
            </a:r>
          </a:p>
        </p:txBody>
      </p:sp>
      <p:sp>
        <p:nvSpPr>
          <p:cNvPr id="3" name="Text Placeholder 2">
            <a:extLst>
              <a:ext uri="{FF2B5EF4-FFF2-40B4-BE49-F238E27FC236}">
                <a16:creationId xmlns:a16="http://schemas.microsoft.com/office/drawing/2014/main" id="{B1780D6E-D713-FEF4-C845-8FEB2E8520D0}"/>
              </a:ext>
            </a:extLst>
          </p:cNvPr>
          <p:cNvSpPr txBox="1">
            <a:spLocks/>
          </p:cNvSpPr>
          <p:nvPr/>
        </p:nvSpPr>
        <p:spPr>
          <a:xfrm>
            <a:off x="4908612" y="1552576"/>
            <a:ext cx="6111813" cy="28384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spcAft>
                <a:spcPts val="0"/>
              </a:spcAft>
              <a:buFont typeface="Wingdings" panose="05000000000000000000" pitchFamily="2" charset="2"/>
              <a:buChar char="q"/>
            </a:pPr>
            <a:r>
              <a:rPr lang="en-US" altLang="en-US" sz="1800" dirty="0"/>
              <a:t>Younger employees are more likely to work in engineering/product roles.</a:t>
            </a:r>
          </a:p>
          <a:p>
            <a:pPr algn="just" fontAlgn="auto">
              <a:spcAft>
                <a:spcPts val="0"/>
              </a:spcAft>
              <a:buFont typeface="Wingdings" panose="05000000000000000000" pitchFamily="2" charset="2"/>
              <a:buChar char="q"/>
            </a:pPr>
            <a:r>
              <a:rPr lang="en-US" altLang="en-US" sz="1800" dirty="0"/>
              <a:t>Older employees are more common in management positions.</a:t>
            </a:r>
          </a:p>
          <a:p>
            <a:pPr algn="just" fontAlgn="auto">
              <a:spcAft>
                <a:spcPts val="0"/>
              </a:spcAft>
              <a:buFont typeface="Wingdings" panose="05000000000000000000" pitchFamily="2" charset="2"/>
              <a:buChar char="q"/>
            </a:pPr>
            <a:r>
              <a:rPr lang="en-US" altLang="en-US" sz="1800" dirty="0"/>
              <a:t>Remote work is high among tech roles and low among operations/HR roles.</a:t>
            </a:r>
          </a:p>
          <a:p>
            <a:pPr algn="just" fontAlgn="auto">
              <a:spcAft>
                <a:spcPts val="0"/>
              </a:spcAft>
              <a:buFont typeface="Wingdings" panose="05000000000000000000" pitchFamily="2" charset="2"/>
              <a:buChar char="q"/>
            </a:pPr>
            <a:r>
              <a:rPr lang="en-US" altLang="en-US" sz="1800" dirty="0"/>
              <a:t>Certain departments show higher termination rates (if analyzed).</a:t>
            </a:r>
            <a:endParaRPr lang="en-US" sz="1800" dirty="0"/>
          </a:p>
        </p:txBody>
      </p:sp>
    </p:spTree>
    <p:extLst>
      <p:ext uri="{BB962C8B-B14F-4D97-AF65-F5344CB8AC3E}">
        <p14:creationId xmlns:p14="http://schemas.microsoft.com/office/powerpoint/2010/main" val="49782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584A8-F204-7A0B-47CC-7DE49C2140DD}"/>
              </a:ext>
            </a:extLst>
          </p:cNvPr>
          <p:cNvSpPr>
            <a:spLocks noGrp="1"/>
          </p:cNvSpPr>
          <p:nvPr>
            <p:ph type="title"/>
          </p:nvPr>
        </p:nvSpPr>
        <p:spPr>
          <a:xfrm>
            <a:off x="625929" y="428626"/>
            <a:ext cx="6477000" cy="723900"/>
          </a:xfrm>
        </p:spPr>
        <p:txBody>
          <a:bodyPr/>
          <a:lstStyle/>
          <a:p>
            <a:r>
              <a:rPr lang="en-IN" dirty="0">
                <a:solidFill>
                  <a:schemeClr val="accent1"/>
                </a:solidFill>
              </a:rPr>
              <a:t>Key Insights</a:t>
            </a:r>
          </a:p>
        </p:txBody>
      </p:sp>
      <p:sp>
        <p:nvSpPr>
          <p:cNvPr id="3" name="Text Placeholder 2">
            <a:extLst>
              <a:ext uri="{FF2B5EF4-FFF2-40B4-BE49-F238E27FC236}">
                <a16:creationId xmlns:a16="http://schemas.microsoft.com/office/drawing/2014/main" id="{3C1604CA-27E7-0343-7AEF-AEF406571A52}"/>
              </a:ext>
            </a:extLst>
          </p:cNvPr>
          <p:cNvSpPr>
            <a:spLocks noGrp="1"/>
          </p:cNvSpPr>
          <p:nvPr>
            <p:ph type="body" sz="quarter" idx="11"/>
          </p:nvPr>
        </p:nvSpPr>
        <p:spPr>
          <a:xfrm>
            <a:off x="625929" y="1238250"/>
            <a:ext cx="6477000" cy="5400674"/>
          </a:xfrm>
        </p:spPr>
        <p:txBody>
          <a:bodyPr/>
          <a:lstStyle/>
          <a:p>
            <a:pPr marL="285750" indent="-285750">
              <a:buFont typeface="Wingdings" panose="05000000000000000000" pitchFamily="2" charset="2"/>
              <a:buChar char="q"/>
            </a:pPr>
            <a:r>
              <a:rPr lang="en-US" b="0" dirty="0"/>
              <a:t>Workforce is young (avg age 30–35), indicating high growth potential.</a:t>
            </a:r>
          </a:p>
          <a:p>
            <a:pPr marL="285750" indent="-285750">
              <a:buFont typeface="Wingdings" panose="05000000000000000000" pitchFamily="2" charset="2"/>
              <a:buChar char="q"/>
            </a:pPr>
            <a:r>
              <a:rPr lang="en-US" b="0" dirty="0"/>
              <a:t>Engineering and Sales dominate employee count, showing company’s technical and commercial focus.</a:t>
            </a:r>
          </a:p>
          <a:p>
            <a:pPr marL="285750" indent="-285750">
              <a:buFont typeface="Wingdings" panose="05000000000000000000" pitchFamily="2" charset="2"/>
              <a:buChar char="q"/>
            </a:pPr>
            <a:r>
              <a:rPr lang="en-US" b="0" dirty="0"/>
              <a:t>Hiring peaked in 2019–2020, slowed during COVID-19, and then recovered strongly.</a:t>
            </a:r>
          </a:p>
          <a:p>
            <a:pPr marL="285750" indent="-285750">
              <a:buFont typeface="Wingdings" panose="05000000000000000000" pitchFamily="2" charset="2"/>
              <a:buChar char="q"/>
            </a:pPr>
            <a:r>
              <a:rPr lang="en-US" b="0" dirty="0"/>
              <a:t>Gender diversity imbalance in technical roles; improvement opportunities exist.</a:t>
            </a:r>
          </a:p>
          <a:p>
            <a:pPr marL="285750" indent="-285750">
              <a:buFont typeface="Wingdings" panose="05000000000000000000" pitchFamily="2" charset="2"/>
              <a:buChar char="q"/>
            </a:pPr>
            <a:r>
              <a:rPr lang="en-US" b="0" dirty="0"/>
              <a:t>Racial diversity is present but leadership roles still need balanced representation.</a:t>
            </a:r>
          </a:p>
          <a:p>
            <a:pPr marL="285750" indent="-285750">
              <a:buFont typeface="Wingdings" panose="05000000000000000000" pitchFamily="2" charset="2"/>
              <a:buChar char="q"/>
            </a:pPr>
            <a:r>
              <a:rPr lang="en-US" b="0" dirty="0"/>
              <a:t>Remote work adoption is high, improving talent availability and reducing office costs.</a:t>
            </a:r>
          </a:p>
          <a:p>
            <a:pPr marL="285750" indent="-285750">
              <a:buFont typeface="Wingdings" panose="05000000000000000000" pitchFamily="2" charset="2"/>
              <a:buChar char="q"/>
            </a:pPr>
            <a:r>
              <a:rPr lang="en-US" b="0" dirty="0"/>
              <a:t>Some states host major employee hubs, likely due to HQ or major offices.</a:t>
            </a:r>
          </a:p>
          <a:p>
            <a:pPr marL="285750" indent="-285750">
              <a:buFont typeface="Wingdings" panose="05000000000000000000" pitchFamily="2" charset="2"/>
              <a:buChar char="q"/>
            </a:pPr>
            <a:r>
              <a:rPr lang="en-US" b="0" dirty="0"/>
              <a:t>Employee turnover is low overall but varies by department.</a:t>
            </a:r>
          </a:p>
        </p:txBody>
      </p:sp>
    </p:spTree>
    <p:extLst>
      <p:ext uri="{BB962C8B-B14F-4D97-AF65-F5344CB8AC3E}">
        <p14:creationId xmlns:p14="http://schemas.microsoft.com/office/powerpoint/2010/main" val="3428259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9E38B3-4686-8247-9625-49018D29F408}"/>
              </a:ext>
            </a:extLst>
          </p:cNvPr>
          <p:cNvSpPr>
            <a:spLocks noGrp="1"/>
          </p:cNvSpPr>
          <p:nvPr>
            <p:ph type="title"/>
          </p:nvPr>
        </p:nvSpPr>
        <p:spPr>
          <a:xfrm>
            <a:off x="1434308" y="2062142"/>
            <a:ext cx="5471317" cy="615553"/>
          </a:xfrm>
        </p:spPr>
        <p:txBody>
          <a:bodyPr/>
          <a:lstStyle/>
          <a:p>
            <a:pPr algn="l"/>
            <a:r>
              <a:rPr lang="en-US" dirty="0"/>
              <a:t>Conclusion</a:t>
            </a:r>
          </a:p>
        </p:txBody>
      </p:sp>
      <p:sp>
        <p:nvSpPr>
          <p:cNvPr id="3" name="Text Placeholder 2">
            <a:extLst>
              <a:ext uri="{FF2B5EF4-FFF2-40B4-BE49-F238E27FC236}">
                <a16:creationId xmlns:a16="http://schemas.microsoft.com/office/drawing/2014/main" id="{17155E1D-F4AD-41A7-B948-E2D246CCFE8A}"/>
              </a:ext>
            </a:extLst>
          </p:cNvPr>
          <p:cNvSpPr>
            <a:spLocks noGrp="1"/>
          </p:cNvSpPr>
          <p:nvPr>
            <p:ph type="body" sz="quarter" idx="12"/>
          </p:nvPr>
        </p:nvSpPr>
        <p:spPr>
          <a:xfrm>
            <a:off x="1434308" y="2937846"/>
            <a:ext cx="5404642" cy="2900979"/>
          </a:xfrm>
        </p:spPr>
        <p:txBody>
          <a:bodyPr vert="horz" wrap="square" lIns="0" tIns="0" rIns="0" bIns="0" rtlCol="0" anchor="t">
            <a:noAutofit/>
          </a:bodyPr>
          <a:lstStyle/>
          <a:p>
            <a:pPr marL="285750" indent="-285750" algn="l">
              <a:buFont typeface="Wingdings" panose="05000000000000000000" pitchFamily="2" charset="2"/>
              <a:buChar char="q"/>
            </a:pPr>
            <a:r>
              <a:rPr lang="en-US" altLang="en-US" dirty="0"/>
              <a:t>Improve diversity hiring for gender and race.</a:t>
            </a:r>
          </a:p>
          <a:p>
            <a:pPr marL="285750" indent="-285750" algn="l">
              <a:buFont typeface="Wingdings" panose="05000000000000000000" pitchFamily="2" charset="2"/>
              <a:buChar char="q"/>
            </a:pPr>
            <a:r>
              <a:rPr lang="en-US" altLang="en-US" dirty="0"/>
              <a:t>Strengthen retention initiatives for high-turnover departments.</a:t>
            </a:r>
          </a:p>
          <a:p>
            <a:pPr marL="285750" indent="-285750" algn="l">
              <a:buFont typeface="Wingdings" panose="05000000000000000000" pitchFamily="2" charset="2"/>
              <a:buChar char="q"/>
            </a:pPr>
            <a:r>
              <a:rPr lang="en-US" altLang="en-US" dirty="0"/>
              <a:t>Continue supporting remote work to attract top talent.</a:t>
            </a:r>
          </a:p>
          <a:p>
            <a:pPr marL="285750" indent="-285750" algn="l">
              <a:buFont typeface="Wingdings" panose="05000000000000000000" pitchFamily="2" charset="2"/>
              <a:buChar char="q"/>
            </a:pPr>
            <a:r>
              <a:rPr lang="en-US" altLang="en-US" dirty="0"/>
              <a:t>Invest in training for younger employees to grow into leadership roles.</a:t>
            </a:r>
          </a:p>
          <a:p>
            <a:pPr marL="285750" indent="-285750" algn="l">
              <a:buFont typeface="Wingdings" panose="05000000000000000000" pitchFamily="2" charset="2"/>
              <a:buChar char="q"/>
            </a:pPr>
            <a:r>
              <a:rPr lang="en-US" altLang="en-US" dirty="0"/>
              <a:t>Evaluate workload/stress in Sales &amp; Engineering due to large headcount.</a:t>
            </a:r>
            <a:endParaRPr lang="en-US" dirty="0"/>
          </a:p>
        </p:txBody>
      </p:sp>
    </p:spTree>
    <p:extLst>
      <p:ext uri="{BB962C8B-B14F-4D97-AF65-F5344CB8AC3E}">
        <p14:creationId xmlns:p14="http://schemas.microsoft.com/office/powerpoint/2010/main" val="4244761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BCB71-DBB8-3697-EB6A-2DC5E1410737}"/>
              </a:ext>
            </a:extLst>
          </p:cNvPr>
          <p:cNvSpPr>
            <a:spLocks noGrp="1"/>
          </p:cNvSpPr>
          <p:nvPr>
            <p:ph type="title"/>
          </p:nvPr>
        </p:nvSpPr>
        <p:spPr>
          <a:xfrm>
            <a:off x="1525301" y="2813447"/>
            <a:ext cx="9141397" cy="1231106"/>
          </a:xfrm>
        </p:spPr>
        <p:txBody>
          <a:bodyPr/>
          <a:lstStyle/>
          <a:p>
            <a:r>
              <a:rPr lang="en-IN" sz="8000" dirty="0"/>
              <a:t>THANK YOU</a:t>
            </a:r>
          </a:p>
        </p:txBody>
      </p:sp>
    </p:spTree>
    <p:extLst>
      <p:ext uri="{BB962C8B-B14F-4D97-AF65-F5344CB8AC3E}">
        <p14:creationId xmlns:p14="http://schemas.microsoft.com/office/powerpoint/2010/main" val="1858366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117">
      <a:dk1>
        <a:sysClr val="windowText" lastClr="000000"/>
      </a:dk1>
      <a:lt1>
        <a:sysClr val="window" lastClr="FFFFFF"/>
      </a:lt1>
      <a:dk2>
        <a:srgbClr val="44546A"/>
      </a:dk2>
      <a:lt2>
        <a:srgbClr val="E7E6E6"/>
      </a:lt2>
      <a:accent1>
        <a:srgbClr val="E23042"/>
      </a:accent1>
      <a:accent2>
        <a:srgbClr val="3578AF"/>
      </a:accent2>
      <a:accent3>
        <a:srgbClr val="C4C4C4"/>
      </a:accent3>
      <a:accent4>
        <a:srgbClr val="A80B22"/>
      </a:accent4>
      <a:accent5>
        <a:srgbClr val="E2E2E2"/>
      </a:accent5>
      <a:accent6>
        <a:srgbClr val="2A6187"/>
      </a:accent6>
      <a:hlink>
        <a:srgbClr val="0563C1"/>
      </a:hlink>
      <a:folHlink>
        <a:srgbClr val="954F72"/>
      </a:folHlink>
    </a:clrScheme>
    <a:fontScheme name="Custom 8">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ewish American Heritage Month_Win32_JC_SL_v3" id="{5A91364D-DD38-4994-BB9C-41D074FD197A}" vid="{8577DF34-D72C-48EB-902A-0A54C766E05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DF283A3-AA81-4663-8764-64F64C723FD1}">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915C1F8C-D27A-4CE7-9DF4-4AFDB2880FA9}">
  <ds:schemaRefs>
    <ds:schemaRef ds:uri="http://schemas.microsoft.com/sharepoint/v3/contenttype/forms"/>
  </ds:schemaRefs>
</ds:datastoreItem>
</file>

<file path=customXml/itemProps3.xml><?xml version="1.0" encoding="utf-8"?>
<ds:datastoreItem xmlns:ds="http://schemas.openxmlformats.org/officeDocument/2006/customXml" ds:itemID="{D4EE2DFF-920A-42C9-AEE0-3A0BF6AF46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Jewish American Heritage Month presentation</Template>
  <TotalTime>141</TotalTime>
  <Words>953</Words>
  <Application>Microsoft Office PowerPoint</Application>
  <PresentationFormat>Widescreen</PresentationFormat>
  <Paragraphs>119</Paragraphs>
  <Slides>16</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Wingdings</vt:lpstr>
      <vt:lpstr>Office Theme</vt:lpstr>
      <vt:lpstr>HR Analytics : Workforce Insights</vt:lpstr>
      <vt:lpstr>Introduction</vt:lpstr>
      <vt:lpstr>Workforce Overview</vt:lpstr>
      <vt:lpstr>Age Analysis</vt:lpstr>
      <vt:lpstr>Hiring Trend Analysis</vt:lpstr>
      <vt:lpstr>Gender Distribution</vt:lpstr>
      <vt:lpstr>Race / Ethnicity Distribution</vt:lpstr>
      <vt:lpstr>Department Analysis</vt:lpstr>
      <vt:lpstr>Job Title Analysis</vt:lpstr>
      <vt:lpstr>State-wise Distribution</vt:lpstr>
      <vt:lpstr>Work Location Analysis (HQ vs Remote)</vt:lpstr>
      <vt:lpstr>Employee Status (Active vs Terminated)</vt:lpstr>
      <vt:lpstr>Correlation Insights</vt:lpstr>
      <vt:lpstr>Key Insights</vt:lpstr>
      <vt:lpstr>Conclusion</vt:lpstr>
      <vt:lpstr>THANK YOU</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Kirti Dey</dc:creator>
  <cp:keywords/>
  <dc:description/>
  <cp:lastModifiedBy>Kirti Dey</cp:lastModifiedBy>
  <cp:revision>3</cp:revision>
  <dcterms:created xsi:type="dcterms:W3CDTF">2025-12-12T05:42:53Z</dcterms:created>
  <dcterms:modified xsi:type="dcterms:W3CDTF">2025-12-18T05:12:24Z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